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1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E4wg6ofvi3rcmawRTCexMM2e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53" y="-4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61de616534c2495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61de616534c24952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61de616534c24952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1de616534c2495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61de616534c24952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61de616534c24952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6515A29D-8A9E-CCD0-CF6C-BC652E3A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>
            <a:extLst>
              <a:ext uri="{FF2B5EF4-FFF2-40B4-BE49-F238E27FC236}">
                <a16:creationId xmlns:a16="http://schemas.microsoft.com/office/drawing/2014/main" id="{7B7324FD-BAFC-3ADC-CD07-2B5B24A34E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9:notes">
            <a:extLst>
              <a:ext uri="{FF2B5EF4-FFF2-40B4-BE49-F238E27FC236}">
                <a16:creationId xmlns:a16="http://schemas.microsoft.com/office/drawing/2014/main" id="{1DED05F0-7911-3C95-B424-9B1FBD3BB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p9:notes">
            <a:extLst>
              <a:ext uri="{FF2B5EF4-FFF2-40B4-BE49-F238E27FC236}">
                <a16:creationId xmlns:a16="http://schemas.microsoft.com/office/drawing/2014/main" id="{1E120C94-87A5-7BB1-C1CA-3C98E52BE9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5784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49874A40-EC85-9AA6-EAC2-9D51CBC4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>
            <a:extLst>
              <a:ext uri="{FF2B5EF4-FFF2-40B4-BE49-F238E27FC236}">
                <a16:creationId xmlns:a16="http://schemas.microsoft.com/office/drawing/2014/main" id="{13550B42-B7F8-4A7F-340C-554478BEA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9:notes">
            <a:extLst>
              <a:ext uri="{FF2B5EF4-FFF2-40B4-BE49-F238E27FC236}">
                <a16:creationId xmlns:a16="http://schemas.microsoft.com/office/drawing/2014/main" id="{5884EB19-7D0B-9FA6-2AD8-A3C346065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9:notes">
            <a:extLst>
              <a:ext uri="{FF2B5EF4-FFF2-40B4-BE49-F238E27FC236}">
                <a16:creationId xmlns:a16="http://schemas.microsoft.com/office/drawing/2014/main" id="{AF1E9A1A-4223-A1EC-7D0F-E0DE66EE5C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740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bg>
      <p:bgPr>
        <a:gradFill>
          <a:gsLst>
            <a:gs pos="0">
              <a:schemeClr val="accent4"/>
            </a:gs>
            <a:gs pos="8000">
              <a:srgbClr val="0342DE"/>
            </a:gs>
            <a:gs pos="27000">
              <a:schemeClr val="dk1"/>
            </a:gs>
            <a:gs pos="81000">
              <a:srgbClr val="4A017E"/>
            </a:gs>
            <a:gs pos="93000">
              <a:schemeClr val="dk2"/>
            </a:gs>
            <a:gs pos="99000">
              <a:srgbClr val="FDB7FD"/>
            </a:gs>
            <a:gs pos="100000">
              <a:srgbClr val="FDB7FD"/>
            </a:gs>
          </a:gsLst>
          <a:lin ang="126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6000"/>
              <a:buFont typeface="Arial"/>
              <a:buNone/>
              <a:defRPr sz="60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 b="0" i="0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Title and Content 3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6"/>
          <p:cNvGrpSpPr/>
          <p:nvPr/>
        </p:nvGrpSpPr>
        <p:grpSpPr>
          <a:xfrm>
            <a:off x="0" y="-6350"/>
            <a:ext cx="12185770" cy="6864350"/>
            <a:chOff x="0" y="-6350"/>
            <a:chExt cx="12185770" cy="6864350"/>
          </a:xfrm>
        </p:grpSpPr>
        <p:sp>
          <p:nvSpPr>
            <p:cNvPr id="21" name="Google Shape;21;p16"/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dk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" name="Google Shape;23;p16"/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24" name="Google Shape;24;p16"/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 w="12700" cap="flat" cmpd="sng">
                <a:solidFill>
                  <a:srgbClr val="82A6FD">
                    <a:alpha val="48627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6"/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91138" h="91138" extrusionOk="0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7" name="Google Shape;27;p16"/>
          <p:cNvCxnSpPr/>
          <p:nvPr/>
        </p:nvCxnSpPr>
        <p:spPr>
          <a:xfrm>
            <a:off x="835831" y="2620500"/>
            <a:ext cx="4471665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16"/>
          <p:cNvSpPr txBox="1">
            <a:spLocks noGrp="1"/>
          </p:cNvSpPr>
          <p:nvPr>
            <p:ph type="body" idx="1"/>
          </p:nvPr>
        </p:nvSpPr>
        <p:spPr>
          <a:xfrm>
            <a:off x="838201" y="3097848"/>
            <a:ext cx="4466504" cy="340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2 column">
  <p:cSld name="6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55000">
              <a:srgbClr val="02090E"/>
            </a:gs>
            <a:gs pos="79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/>
          <p:nvPr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17"/>
          <p:cNvCxnSpPr/>
          <p:nvPr/>
        </p:nvCxnSpPr>
        <p:spPr>
          <a:xfrm>
            <a:off x="3305669" y="2002443"/>
            <a:ext cx="7922116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3305669" y="2470150"/>
            <a:ext cx="7420819" cy="3676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2 column">
  <p:cSld name="7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18"/>
          <p:cNvGrpSpPr/>
          <p:nvPr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39" name="Google Shape;39;p18"/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dk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" name="Google Shape;40;p18" descr="A blue and purple spiral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 b="-92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" name="Google Shape;41;p18"/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42" name="Google Shape;42;p18"/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127713" h="127713" extrusionOk="0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8"/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91138" h="91138" extrusionOk="0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8"/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/>
                <a:ahLst/>
                <a:cxnLst/>
                <a:rect l="l" t="t" r="r" b="b"/>
                <a:pathLst>
                  <a:path w="91138" h="91138" extrusionOk="0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18"/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46" name="Google Shape;46;p18"/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127713" h="127713" extrusionOk="0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18"/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/>
                <a:ahLst/>
                <a:cxnLst/>
                <a:rect l="l" t="t" r="r" b="b"/>
                <a:pathLst>
                  <a:path w="91138" h="91138" extrusionOk="0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48" name="Google Shape;48;p18"/>
          <p:cNvCxnSpPr/>
          <p:nvPr/>
        </p:nvCxnSpPr>
        <p:spPr>
          <a:xfrm>
            <a:off x="2369139" y="2002443"/>
            <a:ext cx="8873530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2373002" y="2474811"/>
            <a:ext cx="4015098" cy="352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995159" y="2474811"/>
            <a:ext cx="4227332" cy="352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gradFill>
          <a:gsLst>
            <a:gs pos="0">
              <a:schemeClr val="accent4"/>
            </a:gs>
            <a:gs pos="11979">
              <a:srgbClr val="022C94"/>
            </a:gs>
            <a:gs pos="35040">
              <a:srgbClr val="020B11"/>
            </a:gs>
            <a:gs pos="81987">
              <a:srgbClr val="4A017E"/>
            </a:gs>
            <a:gs pos="99000">
              <a:schemeClr val="dk2"/>
            </a:gs>
            <a:gs pos="100000">
              <a:schemeClr val="dk2"/>
            </a:gs>
          </a:gsLst>
          <a:lin ang="5400000" scaled="0"/>
        </a:gra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9"/>
          <p:cNvGrpSpPr/>
          <p:nvPr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56" name="Google Shape;56;p19"/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57" name="Google Shape;57;p19"/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 w="12700" cap="flat" cmpd="sng">
                <a:solidFill>
                  <a:srgbClr val="82A6FD">
                    <a:alpha val="48627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9"/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/>
                <a:ahLst/>
                <a:cxnLst/>
                <a:rect l="l" t="t" r="r" b="b"/>
                <a:pathLst>
                  <a:path w="91138" h="91138" extrusionOk="0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9" name="Google Shape;59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 cap="none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831850" y="3079119"/>
            <a:ext cx="441325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•"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2" name="Google Shape;62;p19"/>
          <p:cNvCxnSpPr/>
          <p:nvPr/>
        </p:nvCxnSpPr>
        <p:spPr>
          <a:xfrm>
            <a:off x="835831" y="2679192"/>
            <a:ext cx="4101929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gradFill>
          <a:gsLst>
            <a:gs pos="0">
              <a:schemeClr val="accent4"/>
            </a:gs>
            <a:gs pos="8000">
              <a:srgbClr val="0342DE"/>
            </a:gs>
            <a:gs pos="27000">
              <a:schemeClr val="dk1"/>
            </a:gs>
            <a:gs pos="81000">
              <a:srgbClr val="4A017E"/>
            </a:gs>
            <a:gs pos="93000">
              <a:schemeClr val="dk2"/>
            </a:gs>
            <a:gs pos="99000">
              <a:srgbClr val="FDB7FD"/>
            </a:gs>
            <a:gs pos="100000">
              <a:srgbClr val="FDB7FD"/>
            </a:gs>
          </a:gsLst>
          <a:lin ang="12600000" scaled="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3" y="1821180"/>
            <a:ext cx="12191994" cy="321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6000"/>
              <a:buFont typeface="Arial"/>
              <a:buNone/>
              <a:defRPr sz="60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2 column">
  <p:cSld name="4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12600000" scaled="0"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/>
          <p:nvPr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1"/>
          <p:cNvSpPr txBox="1"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6000"/>
              <a:buNone/>
              <a:defRPr sz="6000" b="0" i="0" cap="none">
                <a:solidFill>
                  <a:srgbClr val="1BDEF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79000">
              <a:schemeClr val="accent6"/>
            </a:gs>
            <a:gs pos="100000">
              <a:schemeClr val="dk2"/>
            </a:gs>
          </a:gsLst>
          <a:lin ang="5400000" scaled="0"/>
        </a:gra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/>
          <p:nvPr/>
        </p:nvSpPr>
        <p:spPr>
          <a:xfrm>
            <a:off x="2" y="1"/>
            <a:ext cx="12191997" cy="6857998"/>
          </a:xfrm>
          <a:prstGeom prst="rect">
            <a:avLst/>
          </a:prstGeom>
          <a:gradFill>
            <a:gsLst>
              <a:gs pos="0">
                <a:srgbClr val="1A012C"/>
              </a:gs>
              <a:gs pos="45000">
                <a:srgbClr val="1A012C">
                  <a:alpha val="49803"/>
                </a:srgbClr>
              </a:gs>
              <a:gs pos="100000">
                <a:srgbClr val="4A017E">
                  <a:alpha val="49803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69662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2"/>
          <p:cNvSpPr/>
          <p:nvPr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3200"/>
              <a:buNone/>
              <a:defRPr sz="3200" b="0" i="0" cap="none">
                <a:solidFill>
                  <a:srgbClr val="1BDEF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22"/>
          <p:cNvSpPr>
            <a:spLocks noGrp="1"/>
          </p:cNvSpPr>
          <p:nvPr>
            <p:ph type="pic" idx="2"/>
          </p:nvPr>
        </p:nvSpPr>
        <p:spPr>
          <a:xfrm>
            <a:off x="6497638" y="336550"/>
            <a:ext cx="5322887" cy="61849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2 column">
  <p:cSld name="3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23"/>
          <p:cNvGrpSpPr/>
          <p:nvPr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82" name="Google Shape;82;p23"/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>
              <a:gsLst>
                <a:gs pos="0">
                  <a:srgbClr val="1A012C"/>
                </a:gs>
                <a:gs pos="45000">
                  <a:srgbClr val="1A012C">
                    <a:alpha val="49803"/>
                  </a:srgbClr>
                </a:gs>
                <a:gs pos="100000">
                  <a:srgbClr val="4A017E">
                    <a:alpha val="4980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rgbClr val="6966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" name="Google Shape;83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" name="Google Shape;84;p23"/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85" name="Google Shape;85;p23"/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127713" h="127713" extrusionOk="0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/>
                <a:ahLst/>
                <a:cxnLst/>
                <a:rect l="l" t="t" r="r" b="b"/>
                <a:pathLst>
                  <a:path w="91138" h="91138" extrusionOk="0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23"/>
            <p:cNvGrpSpPr/>
            <p:nvPr/>
          </p:nvGrpSpPr>
          <p:grpSpPr>
            <a:xfrm rot="-973298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88" name="Google Shape;88;p23"/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127713" h="127713" extrusionOk="0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/>
                <a:ahLst/>
                <a:cxnLst/>
                <a:rect l="l" t="t" r="r" b="b"/>
                <a:pathLst>
                  <a:path w="91138" h="91138" extrusionOk="0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0" name="Google Shape;90;p23"/>
          <p:cNvSpPr txBox="1"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2 column">
  <p:cSld name="8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/>
          <p:nvPr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24"/>
          <p:cNvCxnSpPr/>
          <p:nvPr/>
        </p:nvCxnSpPr>
        <p:spPr>
          <a:xfrm>
            <a:off x="807039" y="1983705"/>
            <a:ext cx="10435630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5" name="Google Shape;95;p24"/>
          <p:cNvGrpSpPr/>
          <p:nvPr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96" name="Google Shape;96;p24"/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7713" h="127713" extrusionOk="0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rgbClr val="82A6FD">
                <a:alpha val="4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4"/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rgbClr val="82A6FD">
                <a:alpha val="4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4"/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rgbClr val="82A6FD">
                <a:alpha val="4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24"/>
          <p:cNvSpPr txBox="1"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body" idx="1"/>
          </p:nvPr>
        </p:nvSpPr>
        <p:spPr>
          <a:xfrm>
            <a:off x="807038" y="2465539"/>
            <a:ext cx="3774587" cy="3723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AutoNum type="arabicPeriod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AutoNum type="alphaLcPeriod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AutoNum type="arabicParenR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AutoNum type="alphaLcParenR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body" idx="2"/>
          </p:nvPr>
        </p:nvSpPr>
        <p:spPr>
          <a:xfrm>
            <a:off x="4927600" y="2465539"/>
            <a:ext cx="6315069" cy="3723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BDEF5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2 column">
  <p:cSld name="2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55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/>
          <p:nvPr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5"/>
          <p:cNvSpPr txBox="1"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5"/>
          <p:cNvSpPr>
            <a:spLocks noGrp="1"/>
          </p:cNvSpPr>
          <p:nvPr>
            <p:ph type="pic" idx="2"/>
          </p:nvPr>
        </p:nvSpPr>
        <p:spPr>
          <a:xfrm>
            <a:off x="336550" y="336550"/>
            <a:ext cx="5303640" cy="61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5"/>
          <p:cNvSpPr txBox="1">
            <a:spLocks noGrp="1"/>
          </p:cNvSpPr>
          <p:nvPr>
            <p:ph type="body" idx="1"/>
          </p:nvPr>
        </p:nvSpPr>
        <p:spPr>
          <a:xfrm>
            <a:off x="6889627" y="3104277"/>
            <a:ext cx="4371560" cy="3022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0" name="Google Shape;110;p25"/>
          <p:cNvCxnSpPr/>
          <p:nvPr/>
        </p:nvCxnSpPr>
        <p:spPr>
          <a:xfrm>
            <a:off x="6889627" y="2679480"/>
            <a:ext cx="4352662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2 column">
  <p:cSld name="9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55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2700000" scaled="0"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5831" y="2680134"/>
            <a:ext cx="3114078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body" idx="1"/>
          </p:nvPr>
        </p:nvSpPr>
        <p:spPr>
          <a:xfrm>
            <a:off x="841716" y="3078480"/>
            <a:ext cx="3108193" cy="304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2 column">
  <p:cSld name="10_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27"/>
          <p:cNvCxnSpPr/>
          <p:nvPr/>
        </p:nvCxnSpPr>
        <p:spPr>
          <a:xfrm>
            <a:off x="807039" y="1983416"/>
            <a:ext cx="10435630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27"/>
          <p:cNvSpPr txBox="1"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body" idx="1"/>
          </p:nvPr>
        </p:nvSpPr>
        <p:spPr>
          <a:xfrm>
            <a:off x="814302" y="2465535"/>
            <a:ext cx="7303538" cy="342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body" idx="2"/>
          </p:nvPr>
        </p:nvSpPr>
        <p:spPr>
          <a:xfrm>
            <a:off x="8392160" y="2465388"/>
            <a:ext cx="2856865" cy="3427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lumn">
  <p:cSld name="Title and 2 column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/>
          <p:nvPr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28"/>
          <p:cNvCxnSpPr/>
          <p:nvPr/>
        </p:nvCxnSpPr>
        <p:spPr>
          <a:xfrm>
            <a:off x="807039" y="1991547"/>
            <a:ext cx="10546763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" name="Google Shape;128;p28"/>
          <p:cNvSpPr txBox="1"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  <a:defRPr sz="32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807039" y="1983705"/>
            <a:ext cx="10435630" cy="0"/>
          </a:xfrm>
          <a:prstGeom prst="straightConnector1">
            <a:avLst/>
          </a:prstGeom>
          <a:noFill/>
          <a:ln w="25400" cap="flat" cmpd="sng">
            <a:solidFill>
              <a:srgbClr val="022C9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28"/>
          <p:cNvSpPr txBox="1">
            <a:spLocks noGrp="1"/>
          </p:cNvSpPr>
          <p:nvPr>
            <p:ph type="ftr" idx="11"/>
          </p:nvPr>
        </p:nvSpPr>
        <p:spPr>
          <a:xfrm>
            <a:off x="336405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99000">
              <a:srgbClr val="05202E"/>
            </a:gs>
            <a:gs pos="100000">
              <a:srgbClr val="05202E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1.png"/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29.jp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2.png"/><Relationship Id="rId1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1.png"/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29.jp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2.png"/><Relationship Id="rId14" Type="http://schemas.openxmlformats.org/officeDocument/2006/relationships/image" Target="../media/image33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1.png"/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29.jp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2.png"/><Relationship Id="rId14" Type="http://schemas.openxmlformats.org/officeDocument/2006/relationships/image" Target="../media/image3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uton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"/>
          <p:cNvSpPr txBox="1"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6000"/>
              <a:buFont typeface="Arial"/>
              <a:buNone/>
            </a:pPr>
            <a:r>
              <a:rPr lang="en-US"/>
              <a:t>RAPID RESPONSE</a:t>
            </a:r>
            <a:endParaRPr/>
          </a:p>
        </p:txBody>
      </p:sp>
      <p:sp>
        <p:nvSpPr>
          <p:cNvPr id="138" name="Google Shape;138;p1"/>
          <p:cNvSpPr txBox="1"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</a:pPr>
            <a:r>
              <a:rPr lang="en-US"/>
              <a:t>EMERGENCY AERIAL  AI SERVICE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>
                <a:solidFill>
                  <a:srgbClr val="FFFF00"/>
                </a:solidFill>
              </a:rPr>
              <a:t>10X FASTER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>
                <a:solidFill>
                  <a:srgbClr val="FFFF00"/>
                </a:solidFill>
              </a:rPr>
              <a:t>5X LESS COST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>
                <a:solidFill>
                  <a:srgbClr val="FFFF00"/>
                </a:solidFill>
              </a:rPr>
              <a:t>100% MISSION SUCCESS</a:t>
            </a:r>
            <a:endParaRPr/>
          </a:p>
        </p:txBody>
      </p:sp>
      <p:pic>
        <p:nvPicPr>
          <p:cNvPr id="139" name="Google Shape;139;p1" descr="A whit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331" y="558352"/>
            <a:ext cx="7840718" cy="142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14000">
              <a:srgbClr val="0342DE"/>
            </a:gs>
            <a:gs pos="55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2700000" scaled="0"/>
        </a:gra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46" name="Google Shape;146;p2"/>
          <p:cNvSpPr txBox="1">
            <a:spLocks noGrp="1"/>
          </p:cNvSpPr>
          <p:nvPr>
            <p:ph type="body" idx="1"/>
          </p:nvPr>
        </p:nvSpPr>
        <p:spPr>
          <a:xfrm>
            <a:off x="1286875" y="2449925"/>
            <a:ext cx="6612600" cy="3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Introduction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M2 IAM Single (Sign On)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M2 CRM Sales Engine (Accts Contacts Activities)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M2 Customer  Portal (Catalog &amp; Orders)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M2 Customer Mission Mgt (Sorties, Flt Plans, Reports )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Customer Service (Tix &amp; Resolutions)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658807-BACA-098B-52F6-9FB253348A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50165" y="3664767"/>
            <a:ext cx="1905000" cy="853759"/>
          </a:xfrm>
          <a:prstGeom prst="rect">
            <a:avLst/>
          </a:prstGeom>
        </p:spPr>
      </p:pic>
      <p:sp>
        <p:nvSpPr>
          <p:cNvPr id="152" name="Google Shape;152;p3"/>
          <p:cNvSpPr txBox="1"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cap="none"/>
              <a:t>Introduction</a:t>
            </a:r>
            <a:endParaRPr/>
          </a:p>
        </p:txBody>
      </p:sp>
      <p:sp>
        <p:nvSpPr>
          <p:cNvPr id="153" name="Google Shape;153;p3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54" name="Google Shape;15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04702" y="2006063"/>
            <a:ext cx="1069624" cy="11147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3"/>
          <p:cNvCxnSpPr/>
          <p:nvPr/>
        </p:nvCxnSpPr>
        <p:spPr>
          <a:xfrm>
            <a:off x="6392164" y="2949278"/>
            <a:ext cx="0" cy="52278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6" name="Google Shape;156;p3"/>
          <p:cNvCxnSpPr/>
          <p:nvPr/>
        </p:nvCxnSpPr>
        <p:spPr>
          <a:xfrm>
            <a:off x="6245209" y="2930771"/>
            <a:ext cx="0" cy="52278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pic>
        <p:nvPicPr>
          <p:cNvPr id="157" name="Google Shape;157;p3" descr="Mission Control Monitors Stock ..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93866" y="1993633"/>
            <a:ext cx="2143127" cy="120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67543" y="2005971"/>
            <a:ext cx="2021780" cy="165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 txBox="1"/>
          <p:nvPr/>
        </p:nvSpPr>
        <p:spPr>
          <a:xfrm>
            <a:off x="2460903" y="2219725"/>
            <a:ext cx="9504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(PRT)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10536648" y="2066050"/>
            <a:ext cx="9504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Ops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000">
                <a:solidFill>
                  <a:srgbClr val="82A6FD"/>
                </a:solidFill>
              </a:rPr>
              <a:t>AutonOps)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 rot="-5400000">
            <a:off x="6250319" y="3054600"/>
            <a:ext cx="6624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10291105" y="5624449"/>
            <a:ext cx="1097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2A6FD"/>
                </a:solidFill>
              </a:rPr>
              <a:t>Aircraft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4918950" y="2501000"/>
            <a:ext cx="934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10205836" y="3509207"/>
            <a:ext cx="17613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AI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@AWS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(SDS)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3" descr="Fire Icon Vector Art, Icons, and Graphics for Free Downloa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65429" y="6079564"/>
            <a:ext cx="848334" cy="70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"/>
          <p:cNvSpPr txBox="1"/>
          <p:nvPr/>
        </p:nvSpPr>
        <p:spPr>
          <a:xfrm>
            <a:off x="4740000" y="2243050"/>
            <a:ext cx="103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r>
              <a:rPr lang="en-US" sz="1200">
                <a:solidFill>
                  <a:schemeClr val="lt1"/>
                </a:solidFill>
              </a:rPr>
              <a:t>s</a:t>
            </a:r>
            <a:endParaRPr sz="12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Activities 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167" name="Google Shape;167;p3"/>
          <p:cNvCxnSpPr/>
          <p:nvPr/>
        </p:nvCxnSpPr>
        <p:spPr>
          <a:xfrm rot="10800000">
            <a:off x="7162505" y="5224833"/>
            <a:ext cx="2595000" cy="10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68" name="Google Shape;168;p3"/>
          <p:cNvCxnSpPr/>
          <p:nvPr/>
        </p:nvCxnSpPr>
        <p:spPr>
          <a:xfrm flipH="1">
            <a:off x="9880783" y="3178916"/>
            <a:ext cx="28800" cy="240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69" name="Google Shape;169;p3"/>
          <p:cNvSpPr txBox="1"/>
          <p:nvPr/>
        </p:nvSpPr>
        <p:spPr>
          <a:xfrm rot="-5400000">
            <a:off x="9036225" y="3420774"/>
            <a:ext cx="9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Ops </a:t>
            </a:r>
            <a:r>
              <a:rPr lang="en-US" sz="1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Sppt</a:t>
            </a:r>
            <a:endParaRPr dirty="0"/>
          </a:p>
        </p:txBody>
      </p:sp>
      <p:cxnSp>
        <p:nvCxnSpPr>
          <p:cNvPr id="170" name="Google Shape;170;p3"/>
          <p:cNvCxnSpPr/>
          <p:nvPr/>
        </p:nvCxnSpPr>
        <p:spPr>
          <a:xfrm>
            <a:off x="6442620" y="5472025"/>
            <a:ext cx="0" cy="522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1" name="Google Shape;171;p3"/>
          <p:cNvCxnSpPr/>
          <p:nvPr/>
        </p:nvCxnSpPr>
        <p:spPr>
          <a:xfrm rot="10800000">
            <a:off x="4675812" y="2601431"/>
            <a:ext cx="1168200" cy="16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72" name="Google Shape;172;p3" descr="A screenshot of a computer&#10;&#10;AI-generated content may be incorrect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 flipH="1">
            <a:off x="5653216" y="3449595"/>
            <a:ext cx="1369541" cy="77229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"/>
          <p:cNvSpPr txBox="1"/>
          <p:nvPr/>
        </p:nvSpPr>
        <p:spPr>
          <a:xfrm>
            <a:off x="4459426" y="3793900"/>
            <a:ext cx="103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Portal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(AWS </a:t>
            </a:r>
            <a:r>
              <a:rPr lang="en-US" sz="900">
                <a:solidFill>
                  <a:srgbClr val="82A6FD"/>
                </a:solidFill>
              </a:rPr>
              <a:t>IAM)</a:t>
            </a:r>
            <a:endParaRPr sz="900">
              <a:solidFill>
                <a:srgbClr val="82A6FD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2A6FD"/>
                </a:solidFill>
              </a:rPr>
              <a:t>Single sign On</a:t>
            </a:r>
            <a:endParaRPr sz="900">
              <a:solidFill>
                <a:srgbClr val="82A6FD"/>
              </a:solidFill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4250175" y="5155524"/>
            <a:ext cx="1458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2A6FD"/>
                </a:solidFill>
              </a:rPr>
              <a:t>Sales Eng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050">
                <a:solidFill>
                  <a:srgbClr val="82A6FD"/>
                </a:solidFill>
              </a:rPr>
              <a:t>AWS M2 App)</a:t>
            </a:r>
            <a:endParaRPr sz="1050">
              <a:solidFill>
                <a:srgbClr val="82A6FD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2A6FD"/>
                </a:solidFill>
              </a:rPr>
              <a:t>Back Office </a:t>
            </a:r>
            <a:endParaRPr sz="1050">
              <a:solidFill>
                <a:srgbClr val="82A6FD"/>
              </a:solidFill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6570000" y="4955425"/>
            <a:ext cx="31302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Ops Support </a:t>
            </a:r>
            <a:endParaRPr sz="1300" dirty="0">
              <a:solidFill>
                <a:schemeClr val="lt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 </a:t>
            </a:r>
            <a:r>
              <a:rPr lang="en-US" sz="1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Pln</a:t>
            </a:r>
            <a:r>
              <a:rPr lang="en-US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Flt </a:t>
            </a:r>
            <a:r>
              <a:rPr lang="en-US" sz="1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Plns</a:t>
            </a:r>
            <a:r>
              <a:rPr lang="en-US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00" dirty="0">
                <a:solidFill>
                  <a:schemeClr val="lt1"/>
                </a:solidFill>
              </a:rPr>
              <a:t>Status,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Tix, Sen Feeds, AI Feeds, R</a:t>
            </a:r>
            <a:r>
              <a:rPr lang="en-US" sz="1000" dirty="0">
                <a:solidFill>
                  <a:schemeClr val="lt1"/>
                </a:solidFill>
              </a:rPr>
              <a:t>eports</a:t>
            </a:r>
            <a:endParaRPr sz="1000" dirty="0"/>
          </a:p>
        </p:txBody>
      </p:sp>
      <p:sp>
        <p:nvSpPr>
          <p:cNvPr id="176" name="Google Shape;176;p3"/>
          <p:cNvSpPr txBox="1"/>
          <p:nvPr/>
        </p:nvSpPr>
        <p:spPr>
          <a:xfrm>
            <a:off x="6443967" y="5943977"/>
            <a:ext cx="15088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Payouts to Partners</a:t>
            </a:r>
            <a:endParaRPr/>
          </a:p>
        </p:txBody>
      </p:sp>
      <p:cxnSp>
        <p:nvCxnSpPr>
          <p:cNvPr id="177" name="Google Shape;177;p3"/>
          <p:cNvCxnSpPr/>
          <p:nvPr/>
        </p:nvCxnSpPr>
        <p:spPr>
          <a:xfrm rot="10800000">
            <a:off x="6246970" y="5531427"/>
            <a:ext cx="41189" cy="54813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8" name="Google Shape;178;p3"/>
          <p:cNvSpPr txBox="1"/>
          <p:nvPr/>
        </p:nvSpPr>
        <p:spPr>
          <a:xfrm>
            <a:off x="5310401" y="5943977"/>
            <a:ext cx="93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Collections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3"/>
          <p:cNvCxnSpPr/>
          <p:nvPr/>
        </p:nvCxnSpPr>
        <p:spPr>
          <a:xfrm>
            <a:off x="4028669" y="3488420"/>
            <a:ext cx="1286" cy="15634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" name="Google Shape;180;p3"/>
          <p:cNvCxnSpPr>
            <a:endCxn id="181" idx="1"/>
          </p:cNvCxnSpPr>
          <p:nvPr/>
        </p:nvCxnSpPr>
        <p:spPr>
          <a:xfrm>
            <a:off x="4017863" y="5051738"/>
            <a:ext cx="1665600" cy="3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2" name="Google Shape;182;p3"/>
          <p:cNvSpPr txBox="1"/>
          <p:nvPr/>
        </p:nvSpPr>
        <p:spPr>
          <a:xfrm>
            <a:off x="3250115" y="3903183"/>
            <a:ext cx="7890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Contacts</a:t>
            </a:r>
            <a:b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n-US" sz="1200">
                <a:solidFill>
                  <a:schemeClr val="lt1"/>
                </a:solidFill>
              </a:rPr>
              <a:t> Activities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(Via Outlook)</a:t>
            </a:r>
            <a:endParaRPr/>
          </a:p>
        </p:txBody>
      </p:sp>
      <p:pic>
        <p:nvPicPr>
          <p:cNvPr id="183" name="Google Shape;183;p3" descr="A black airplane with a red dot&#10;&#10;AI-generated content may be incorrect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76399" y="5716968"/>
            <a:ext cx="652533" cy="364770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sp>
        <p:nvSpPr>
          <p:cNvPr id="184" name="Google Shape;184;p3"/>
          <p:cNvSpPr txBox="1"/>
          <p:nvPr/>
        </p:nvSpPr>
        <p:spPr>
          <a:xfrm>
            <a:off x="6380675" y="2425084"/>
            <a:ext cx="11865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(RVFD)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 rot="5400000" flipH="1">
            <a:off x="5804857" y="2605275"/>
            <a:ext cx="7044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Catalog</a:t>
            </a:r>
            <a:endParaRPr/>
          </a:p>
        </p:txBody>
      </p:sp>
      <p:cxnSp>
        <p:nvCxnSpPr>
          <p:cNvPr id="186" name="Google Shape;186;p3"/>
          <p:cNvCxnSpPr/>
          <p:nvPr/>
        </p:nvCxnSpPr>
        <p:spPr>
          <a:xfrm>
            <a:off x="6504843" y="4270956"/>
            <a:ext cx="0" cy="522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81" name="Google Shape;181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83463" y="4730475"/>
            <a:ext cx="1168200" cy="7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"/>
          <p:cNvSpPr txBox="1"/>
          <p:nvPr/>
        </p:nvSpPr>
        <p:spPr>
          <a:xfrm rot="-5400000">
            <a:off x="6376344" y="4309625"/>
            <a:ext cx="6624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/>
          </a:p>
        </p:txBody>
      </p:sp>
      <p:cxnSp>
        <p:nvCxnSpPr>
          <p:cNvPr id="188" name="Google Shape;188;p3"/>
          <p:cNvCxnSpPr/>
          <p:nvPr/>
        </p:nvCxnSpPr>
        <p:spPr>
          <a:xfrm flipH="1">
            <a:off x="9634782" y="3053945"/>
            <a:ext cx="38700" cy="231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triangle" w="sm" len="sm"/>
            <a:tailEnd type="triangle" w="sm" len="sm"/>
          </a:ln>
        </p:spPr>
      </p:cxnSp>
      <p:sp>
        <p:nvSpPr>
          <p:cNvPr id="189" name="Google Shape;189;p3"/>
          <p:cNvSpPr txBox="1"/>
          <p:nvPr/>
        </p:nvSpPr>
        <p:spPr>
          <a:xfrm rot="-5400000">
            <a:off x="9372587" y="4615030"/>
            <a:ext cx="1398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C &amp; C   Data</a:t>
            </a:r>
            <a:endParaRPr sz="1200" dirty="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lt1"/>
                </a:solidFill>
              </a:rPr>
              <a:t>SensFeed</a:t>
            </a:r>
            <a:endParaRPr dirty="0"/>
          </a:p>
        </p:txBody>
      </p:sp>
      <p:sp>
        <p:nvSpPr>
          <p:cNvPr id="190" name="Google Shape;190;p3"/>
          <p:cNvSpPr txBox="1"/>
          <p:nvPr/>
        </p:nvSpPr>
        <p:spPr>
          <a:xfrm rot="-5400000">
            <a:off x="5523588" y="2955900"/>
            <a:ext cx="85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Catalog</a:t>
            </a:r>
            <a:endParaRPr/>
          </a:p>
        </p:txBody>
      </p:sp>
      <p:cxnSp>
        <p:nvCxnSpPr>
          <p:cNvPr id="191" name="Google Shape;191;p3"/>
          <p:cNvCxnSpPr/>
          <p:nvPr/>
        </p:nvCxnSpPr>
        <p:spPr>
          <a:xfrm>
            <a:off x="6163334" y="4185721"/>
            <a:ext cx="0" cy="522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92" name="Google Shape;192;p3"/>
          <p:cNvSpPr txBox="1"/>
          <p:nvPr/>
        </p:nvSpPr>
        <p:spPr>
          <a:xfrm rot="-5400000">
            <a:off x="5402263" y="4393963"/>
            <a:ext cx="85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Missions</a:t>
            </a:r>
            <a:endParaRPr/>
          </a:p>
        </p:txBody>
      </p:sp>
      <p:sp>
        <p:nvSpPr>
          <p:cNvPr id="3" name="Google Shape;169;p3">
            <a:extLst>
              <a:ext uri="{FF2B5EF4-FFF2-40B4-BE49-F238E27FC236}">
                <a16:creationId xmlns:a16="http://schemas.microsoft.com/office/drawing/2014/main" id="{9C61EAE5-839A-C33C-3FB5-97BF460830F1}"/>
              </a:ext>
            </a:extLst>
          </p:cNvPr>
          <p:cNvSpPr txBox="1"/>
          <p:nvPr/>
        </p:nvSpPr>
        <p:spPr>
          <a:xfrm rot="-5400000">
            <a:off x="9536390" y="3322132"/>
            <a:ext cx="9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AI Feeds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/>
              <a:t>SALES</a:t>
            </a:r>
            <a:endParaRPr/>
          </a:p>
        </p:txBody>
      </p:sp>
      <p:sp>
        <p:nvSpPr>
          <p:cNvPr id="199" name="Google Shape;199;p4"/>
          <p:cNvSpPr txBox="1">
            <a:spLocks noGrp="1"/>
          </p:cNvSpPr>
          <p:nvPr>
            <p:ph type="body" idx="1"/>
          </p:nvPr>
        </p:nvSpPr>
        <p:spPr>
          <a:xfrm>
            <a:off x="1810674" y="2204813"/>
            <a:ext cx="60831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n-US" dirty="0"/>
              <a:t>Everybody is Sales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Capture Acct &amp; Contact Info in Outlook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Retain Events in Outlook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At Close “On Board Users” Trans to M2 Platform</a:t>
            </a:r>
            <a:endParaRPr dirty="0"/>
          </a:p>
          <a:p>
            <a:pPr marL="569214" lvl="1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Manually Transfer Outlook into M2 Sales Eng</a:t>
            </a:r>
            <a:endParaRPr dirty="0"/>
          </a:p>
          <a:p>
            <a:pPr marL="569214" lvl="1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Train </a:t>
            </a:r>
            <a:r>
              <a:rPr lang="en-US" dirty="0" err="1"/>
              <a:t>Custpmer’s</a:t>
            </a:r>
            <a:r>
              <a:rPr lang="en-US" dirty="0"/>
              <a:t> </a:t>
            </a:r>
            <a:r>
              <a:rPr lang="en-US" dirty="0" err="1"/>
              <a:t>SuperUser</a:t>
            </a:r>
            <a:endParaRPr dirty="0"/>
          </a:p>
          <a:p>
            <a:pPr marL="569214" lvl="1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Customer Team Orientation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 dirty="0"/>
          </a:p>
        </p:txBody>
      </p:sp>
      <p:pic>
        <p:nvPicPr>
          <p:cNvPr id="200" name="Google Shape;20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8998" y="2204831"/>
            <a:ext cx="1337384" cy="139310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5997" y="2383678"/>
            <a:ext cx="1045322" cy="104532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"/>
          <p:cNvSpPr txBox="1"/>
          <p:nvPr/>
        </p:nvSpPr>
        <p:spPr>
          <a:xfrm>
            <a:off x="9278249" y="2847851"/>
            <a:ext cx="79746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Calls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Emails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Mtgs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9200535" y="2633365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Contacts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9103553" y="2237818"/>
            <a:ext cx="9829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2A6FD"/>
                </a:solidFill>
                <a:latin typeface="Arial"/>
                <a:ea typeface="Arial"/>
                <a:cs typeface="Arial"/>
                <a:sym typeface="Arial"/>
              </a:rPr>
              <a:t>Outlook</a:t>
            </a:r>
            <a:endParaRPr/>
          </a:p>
        </p:txBody>
      </p:sp>
      <p:pic>
        <p:nvPicPr>
          <p:cNvPr id="206" name="Google Shape;206;p4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 flipH="1">
            <a:off x="9080914" y="4250851"/>
            <a:ext cx="1369541" cy="77229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"/>
          <p:cNvSpPr txBox="1"/>
          <p:nvPr/>
        </p:nvSpPr>
        <p:spPr>
          <a:xfrm>
            <a:off x="9278249" y="4941797"/>
            <a:ext cx="136954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2A6FD"/>
                </a:solidFill>
              </a:rPr>
              <a:t>M2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2A6FD"/>
                </a:solidFill>
              </a:rPr>
              <a:t>Sales Eng</a:t>
            </a:r>
            <a:endParaRPr dirty="0"/>
          </a:p>
        </p:txBody>
      </p:sp>
      <p:cxnSp>
        <p:nvCxnSpPr>
          <p:cNvPr id="208" name="Google Shape;208;p4"/>
          <p:cNvCxnSpPr/>
          <p:nvPr/>
        </p:nvCxnSpPr>
        <p:spPr>
          <a:xfrm>
            <a:off x="9668837" y="3652264"/>
            <a:ext cx="44352" cy="70113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9" name="Google Shape;209;p4"/>
          <p:cNvSpPr txBox="1"/>
          <p:nvPr/>
        </p:nvSpPr>
        <p:spPr>
          <a:xfrm>
            <a:off x="9713189" y="3864874"/>
            <a:ext cx="12461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 Close Export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ORGANIZATIONS (Accounts)</a:t>
            </a:r>
            <a:endParaRPr dirty="0"/>
          </a:p>
        </p:txBody>
      </p:sp>
      <p:sp>
        <p:nvSpPr>
          <p:cNvPr id="216" name="Google Shape;216;p5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17" name="Google Shape;2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7217" y="2237816"/>
            <a:ext cx="7768469" cy="417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>
            <a:spLocks noGrp="1"/>
          </p:cNvSpPr>
          <p:nvPr>
            <p:ph type="body" idx="1"/>
          </p:nvPr>
        </p:nvSpPr>
        <p:spPr>
          <a:xfrm>
            <a:off x="6440728" y="4360612"/>
            <a:ext cx="5751272" cy="25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At Close User On Boarding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ct val="100000"/>
            </a:pPr>
            <a:r>
              <a:rPr lang="en-US" dirty="0"/>
              <a:t>Create New Orgs with Multiple Contacts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Accounts are manually created in M2 Sales Eng</a:t>
            </a: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Contacts are Manually Moved from Outlook into M2 Sales Eng</a:t>
            </a: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Activities are Manually Moved from </a:t>
            </a:r>
            <a:r>
              <a:rPr lang="en-US" dirty="0" err="1"/>
              <a:t>Outkook</a:t>
            </a:r>
            <a:r>
              <a:rPr lang="en-US" dirty="0"/>
              <a:t> to M2 Sale Eng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Accounts and Contacts Loaded into M2 IAM for Single </a:t>
            </a:r>
            <a:r>
              <a:rPr lang="en-US" dirty="0" err="1"/>
              <a:t>SignOn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1de616534c24952_6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100" cy="16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ORGANIZATION (Account Record)</a:t>
            </a:r>
            <a:endParaRPr dirty="0"/>
          </a:p>
        </p:txBody>
      </p:sp>
      <p:sp>
        <p:nvSpPr>
          <p:cNvPr id="225" name="Google Shape;225;g61de616534c24952_6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217;p5">
            <a:extLst>
              <a:ext uri="{FF2B5EF4-FFF2-40B4-BE49-F238E27FC236}">
                <a16:creationId xmlns:a16="http://schemas.microsoft.com/office/drawing/2014/main" id="{BB7DF15A-FA13-D4CA-C0BD-52C0DD965B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7217" y="2237816"/>
            <a:ext cx="7768469" cy="41709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75D216-DC9A-1B89-6D9D-2027A9769362}"/>
              </a:ext>
            </a:extLst>
          </p:cNvPr>
          <p:cNvSpPr txBox="1"/>
          <p:nvPr/>
        </p:nvSpPr>
        <p:spPr>
          <a:xfrm>
            <a:off x="2163097" y="2566221"/>
            <a:ext cx="914399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RVFD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1D0D4-6D2A-AF07-B916-A478877B792D}"/>
              </a:ext>
            </a:extLst>
          </p:cNvPr>
          <p:cNvSpPr txBox="1"/>
          <p:nvPr/>
        </p:nvSpPr>
        <p:spPr>
          <a:xfrm>
            <a:off x="2087217" y="3321278"/>
            <a:ext cx="591829" cy="21544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Contacts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3849B-83D6-9D86-CA4B-10C7F2F826FC}"/>
              </a:ext>
            </a:extLst>
          </p:cNvPr>
          <p:cNvSpPr txBox="1"/>
          <p:nvPr/>
        </p:nvSpPr>
        <p:spPr>
          <a:xfrm>
            <a:off x="2043215" y="4404740"/>
            <a:ext cx="8723108" cy="21544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Activities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EB7F7-5E6B-4D40-8A4F-B9873DCBF1A6}"/>
              </a:ext>
            </a:extLst>
          </p:cNvPr>
          <p:cNvSpPr txBox="1"/>
          <p:nvPr/>
        </p:nvSpPr>
        <p:spPr>
          <a:xfrm>
            <a:off x="2043215" y="5595924"/>
            <a:ext cx="8723108" cy="21544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Orders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0102" y="2194202"/>
            <a:ext cx="8817104" cy="439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CONTACTS Record</a:t>
            </a:r>
            <a:endParaRPr dirty="0"/>
          </a:p>
        </p:txBody>
      </p:sp>
      <p:sp>
        <p:nvSpPr>
          <p:cNvPr id="233" name="Google Shape;233;p6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34" name="Google Shape;234;p6"/>
          <p:cNvSpPr txBox="1">
            <a:spLocks noGrp="1"/>
          </p:cNvSpPr>
          <p:nvPr>
            <p:ph type="body" idx="1"/>
          </p:nvPr>
        </p:nvSpPr>
        <p:spPr>
          <a:xfrm>
            <a:off x="6348654" y="4734339"/>
            <a:ext cx="3739563" cy="136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/>
              <a:t>Each Org has a “Super User” to maintain their org and user records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/>
              <a:t>Other Roles Can be</a:t>
            </a:r>
            <a:endParaRPr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Chief</a:t>
            </a:r>
            <a:endParaRPr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Commander</a:t>
            </a:r>
            <a:endParaRPr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Ground Crew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61de616534c24952_14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100" cy="16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/>
              <a:t>CONTACTS Record</a:t>
            </a:r>
            <a:endParaRPr/>
          </a:p>
        </p:txBody>
      </p:sp>
      <p:sp>
        <p:nvSpPr>
          <p:cNvPr id="241" name="Google Shape;241;g61de616534c24952_14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Google Shape;231;p6">
            <a:extLst>
              <a:ext uri="{FF2B5EF4-FFF2-40B4-BE49-F238E27FC236}">
                <a16:creationId xmlns:a16="http://schemas.microsoft.com/office/drawing/2014/main" id="{D2C85074-2DA7-B18F-5D0C-087F2E4363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0102" y="2194202"/>
            <a:ext cx="8817104" cy="43971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9A98CD-66CC-A781-71E1-CDDCAF62F1E8}"/>
              </a:ext>
            </a:extLst>
          </p:cNvPr>
          <p:cNvSpPr/>
          <p:nvPr/>
        </p:nvSpPr>
        <p:spPr>
          <a:xfrm>
            <a:off x="2072640" y="3649980"/>
            <a:ext cx="8618220" cy="294131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547E71-A6D1-DFEF-EE1D-9EB2E13F79F1}"/>
              </a:ext>
            </a:extLst>
          </p:cNvPr>
          <p:cNvSpPr/>
          <p:nvPr/>
        </p:nvSpPr>
        <p:spPr>
          <a:xfrm>
            <a:off x="2164080" y="3649980"/>
            <a:ext cx="967740" cy="198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EB7FD6-ECED-0B99-C1AC-86996A06AFAB}"/>
              </a:ext>
            </a:extLst>
          </p:cNvPr>
          <p:cNvSpPr/>
          <p:nvPr/>
        </p:nvSpPr>
        <p:spPr>
          <a:xfrm>
            <a:off x="5676900" y="3649980"/>
            <a:ext cx="967740" cy="198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1E50F4-D292-79C0-A831-458F36B5C100}"/>
              </a:ext>
            </a:extLst>
          </p:cNvPr>
          <p:cNvSpPr/>
          <p:nvPr/>
        </p:nvSpPr>
        <p:spPr>
          <a:xfrm>
            <a:off x="7391400" y="3649980"/>
            <a:ext cx="967740" cy="198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/>
              <a:t>PORTAL</a:t>
            </a:r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1"/>
          </p:nvPr>
        </p:nvSpPr>
        <p:spPr>
          <a:xfrm>
            <a:off x="2373002" y="2474811"/>
            <a:ext cx="4015098" cy="352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n-US"/>
              <a:t>Customer Single Sign On (SSO)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/>
          </a:p>
        </p:txBody>
      </p:sp>
      <p:sp>
        <p:nvSpPr>
          <p:cNvPr id="249" name="Google Shape;249;p7"/>
          <p:cNvSpPr txBox="1">
            <a:spLocks noGrp="1"/>
          </p:cNvSpPr>
          <p:nvPr>
            <p:ph type="body" idx="2"/>
          </p:nvPr>
        </p:nvSpPr>
        <p:spPr>
          <a:xfrm>
            <a:off x="7600325" y="2235725"/>
            <a:ext cx="45918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n-US" dirty="0"/>
              <a:t>Gateway to Rapid Response Services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n-US" dirty="0"/>
              <a:t>After Login Customers Can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Shop for Services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Learn More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Order Services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Manage Multiple Missions 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Track Progress during Mission 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Collaborate During Mission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Submit Issue Tix during Mission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Seek Mission Support during Mission 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Eval &amp; rate response during Incident </a:t>
            </a:r>
            <a:endParaRPr dirty="0"/>
          </a:p>
          <a:p>
            <a:pPr marL="28575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dirty="0"/>
              <a:t>File After Action Reports</a:t>
            </a:r>
            <a:endParaRPr dirty="0"/>
          </a:p>
        </p:txBody>
      </p:sp>
      <p:sp>
        <p:nvSpPr>
          <p:cNvPr id="250" name="Google Shape;250;p7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pic>
        <p:nvPicPr>
          <p:cNvPr id="251" name="Google Shape;2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6201" y="2888826"/>
            <a:ext cx="5487489" cy="3114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/>
              <a:t>SERVICE SHOPPING</a:t>
            </a:r>
            <a:endParaRPr/>
          </a:p>
        </p:txBody>
      </p:sp>
      <p:sp>
        <p:nvSpPr>
          <p:cNvPr id="258" name="Google Shape;258;p8"/>
          <p:cNvSpPr txBox="1">
            <a:spLocks noGrp="1"/>
          </p:cNvSpPr>
          <p:nvPr>
            <p:ph type="body" idx="1"/>
          </p:nvPr>
        </p:nvSpPr>
        <p:spPr>
          <a:xfrm>
            <a:off x="2399619" y="2020832"/>
            <a:ext cx="40152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/>
          </a:p>
        </p:txBody>
      </p:sp>
      <p:sp>
        <p:nvSpPr>
          <p:cNvPr id="259" name="Google Shape;259;p8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60" name="Google Shape;2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770" y="2834337"/>
            <a:ext cx="6302286" cy="375698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>
            <a:spLocks noGrp="1"/>
          </p:cNvSpPr>
          <p:nvPr>
            <p:ph type="body" idx="2"/>
          </p:nvPr>
        </p:nvSpPr>
        <p:spPr>
          <a:xfrm>
            <a:off x="7669676" y="2020832"/>
            <a:ext cx="3572994" cy="352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n-US"/>
              <a:t>Service Order Form into Shopify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1729409" y="2976102"/>
            <a:ext cx="1630831" cy="369332"/>
          </a:xfrm>
          <a:prstGeom prst="rect">
            <a:avLst/>
          </a:prstGeom>
          <a:solidFill>
            <a:srgbClr val="0342D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Order Service</a:t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1791921" y="3569587"/>
            <a:ext cx="1215397" cy="215444"/>
          </a:xfrm>
          <a:prstGeom prst="rect">
            <a:avLst/>
          </a:prstGeom>
          <a:solidFill>
            <a:srgbClr val="0342D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Type of Service</a:t>
            </a:r>
            <a:endParaRPr/>
          </a:p>
        </p:txBody>
      </p:sp>
      <p:pic>
        <p:nvPicPr>
          <p:cNvPr id="264" name="Google Shape;26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1695" y="2456433"/>
            <a:ext cx="3231987" cy="413489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9140971" y="3100496"/>
            <a:ext cx="5229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8915400" y="3345434"/>
            <a:ext cx="1143000" cy="1531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62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8150087" y="5834270"/>
            <a:ext cx="3092700" cy="391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62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8073448" y="5690569"/>
            <a:ext cx="415498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Notes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B64E0-6BB5-8DEA-A44E-DDE69674F16E}"/>
              </a:ext>
            </a:extLst>
          </p:cNvPr>
          <p:cNvSpPr/>
          <p:nvPr/>
        </p:nvSpPr>
        <p:spPr>
          <a:xfrm>
            <a:off x="6577584" y="3907536"/>
            <a:ext cx="1377472" cy="1426464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3EF2B-36A4-9BF3-0040-325C3319D6E3}"/>
              </a:ext>
            </a:extLst>
          </p:cNvPr>
          <p:cNvSpPr txBox="1"/>
          <p:nvPr/>
        </p:nvSpPr>
        <p:spPr>
          <a:xfrm>
            <a:off x="6920256" y="4977337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Recon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2DA84F-9EB4-1D3B-CADE-5C9A6945058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3EBF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80491" y="4192379"/>
            <a:ext cx="632515" cy="6629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F000BF-6658-0049-EB6F-D0CAB13E3512}"/>
              </a:ext>
            </a:extLst>
          </p:cNvPr>
          <p:cNvSpPr/>
          <p:nvPr/>
        </p:nvSpPr>
        <p:spPr>
          <a:xfrm>
            <a:off x="3360240" y="3913632"/>
            <a:ext cx="1455600" cy="14264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2C270A-3CC3-1AF7-1C5B-91ECDC3C0C22}"/>
              </a:ext>
            </a:extLst>
          </p:cNvPr>
          <p:cNvSpPr/>
          <p:nvPr/>
        </p:nvSpPr>
        <p:spPr>
          <a:xfrm>
            <a:off x="4988686" y="3907536"/>
            <a:ext cx="1455600" cy="14264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New Order = New Mission (Response)</a:t>
            </a:r>
            <a:endParaRPr dirty="0"/>
          </a:p>
        </p:txBody>
      </p:sp>
      <p:sp>
        <p:nvSpPr>
          <p:cNvPr id="275" name="Google Shape;275;p9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Google Shape;264;p8">
            <a:extLst>
              <a:ext uri="{FF2B5EF4-FFF2-40B4-BE49-F238E27FC236}">
                <a16:creationId xmlns:a16="http://schemas.microsoft.com/office/drawing/2014/main" id="{02BD2ECA-1D98-F89A-6F15-A624D12E36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1292" y="2919766"/>
            <a:ext cx="1109276" cy="1616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1D8079-9F7A-8A2F-EFB0-77A96AE0D4A8}"/>
              </a:ext>
            </a:extLst>
          </p:cNvPr>
          <p:cNvSpPr/>
          <p:nvPr/>
        </p:nvSpPr>
        <p:spPr>
          <a:xfrm>
            <a:off x="5054600" y="2269067"/>
            <a:ext cx="6341533" cy="432225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9B224-DBA0-9836-20A4-6BE6974D951F}"/>
              </a:ext>
            </a:extLst>
          </p:cNvPr>
          <p:cNvSpPr txBox="1"/>
          <p:nvPr/>
        </p:nvSpPr>
        <p:spPr>
          <a:xfrm>
            <a:off x="4986867" y="3597413"/>
            <a:ext cx="6409266" cy="253916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Mission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0EAC9-F5F7-FCF0-F0A8-DC5330A2D720}"/>
              </a:ext>
            </a:extLst>
          </p:cNvPr>
          <p:cNvSpPr txBox="1"/>
          <p:nvPr/>
        </p:nvSpPr>
        <p:spPr>
          <a:xfrm>
            <a:off x="4986867" y="2222657"/>
            <a:ext cx="6409266" cy="253916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Mission Details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13E7EA9-D736-18FD-80FF-DB1C4118DE69}"/>
              </a:ext>
            </a:extLst>
          </p:cNvPr>
          <p:cNvSpPr/>
          <p:nvPr/>
        </p:nvSpPr>
        <p:spPr>
          <a:xfrm>
            <a:off x="4013200" y="3268049"/>
            <a:ext cx="778933" cy="432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036774-66CD-ECCD-2D4E-5D6F55967493}"/>
              </a:ext>
            </a:extLst>
          </p:cNvPr>
          <p:cNvSpPr txBox="1"/>
          <p:nvPr/>
        </p:nvSpPr>
        <p:spPr>
          <a:xfrm flipH="1">
            <a:off x="2396551" y="2665850"/>
            <a:ext cx="729379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599585-789F-A07A-78B8-0471717D2705}"/>
              </a:ext>
            </a:extLst>
          </p:cNvPr>
          <p:cNvSpPr txBox="1"/>
          <p:nvPr/>
        </p:nvSpPr>
        <p:spPr>
          <a:xfrm flipH="1">
            <a:off x="4971664" y="1991946"/>
            <a:ext cx="729379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Mission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2C08E3-BF1B-2D59-F208-D17254C0D26E}"/>
              </a:ext>
            </a:extLst>
          </p:cNvPr>
          <p:cNvSpPr/>
          <p:nvPr/>
        </p:nvSpPr>
        <p:spPr>
          <a:xfrm>
            <a:off x="5090820" y="2491228"/>
            <a:ext cx="491066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8F1516-A14B-CB17-3AD0-C2FFA0CFFEE9}"/>
              </a:ext>
            </a:extLst>
          </p:cNvPr>
          <p:cNvSpPr/>
          <p:nvPr/>
        </p:nvSpPr>
        <p:spPr>
          <a:xfrm>
            <a:off x="5686461" y="2499778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AF22A1-B205-A461-79AB-81B766ED5A25}"/>
              </a:ext>
            </a:extLst>
          </p:cNvPr>
          <p:cNvSpPr/>
          <p:nvPr/>
        </p:nvSpPr>
        <p:spPr>
          <a:xfrm>
            <a:off x="6903307" y="2499778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Requestor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E4126E-094C-52C3-7D48-089EDD7C4520}"/>
              </a:ext>
            </a:extLst>
          </p:cNvPr>
          <p:cNvSpPr/>
          <p:nvPr/>
        </p:nvSpPr>
        <p:spPr>
          <a:xfrm>
            <a:off x="5118172" y="2867774"/>
            <a:ext cx="491066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463DBF-6679-D905-D9D9-C51783BBF1F6}"/>
              </a:ext>
            </a:extLst>
          </p:cNvPr>
          <p:cNvSpPr/>
          <p:nvPr/>
        </p:nvSpPr>
        <p:spPr>
          <a:xfrm>
            <a:off x="5701043" y="2884707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30E574-3D90-5890-2210-761CA743773C}"/>
              </a:ext>
            </a:extLst>
          </p:cNvPr>
          <p:cNvSpPr/>
          <p:nvPr/>
        </p:nvSpPr>
        <p:spPr>
          <a:xfrm>
            <a:off x="5118172" y="3239744"/>
            <a:ext cx="491066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26B88E-53F4-5377-86B6-2AC652F97B5B}"/>
              </a:ext>
            </a:extLst>
          </p:cNvPr>
          <p:cNvSpPr/>
          <p:nvPr/>
        </p:nvSpPr>
        <p:spPr>
          <a:xfrm>
            <a:off x="6981772" y="2882281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Commander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FA26D8-3708-FD52-3D57-747814F5EA94}"/>
              </a:ext>
            </a:extLst>
          </p:cNvPr>
          <p:cNvSpPr/>
          <p:nvPr/>
        </p:nvSpPr>
        <p:spPr>
          <a:xfrm>
            <a:off x="6968375" y="3193334"/>
            <a:ext cx="1112271" cy="235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Price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FB19AF-DD9D-3E68-2B83-252006603D28}"/>
              </a:ext>
            </a:extLst>
          </p:cNvPr>
          <p:cNvSpPr/>
          <p:nvPr/>
        </p:nvSpPr>
        <p:spPr>
          <a:xfrm>
            <a:off x="5701043" y="3226428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52DC94-EE28-9722-F10F-1FA416E4A772}"/>
              </a:ext>
            </a:extLst>
          </p:cNvPr>
          <p:cNvSpPr/>
          <p:nvPr/>
        </p:nvSpPr>
        <p:spPr>
          <a:xfrm>
            <a:off x="8225366" y="2522983"/>
            <a:ext cx="2341034" cy="9060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28095C-DE17-7256-7211-F8D435871D41}"/>
              </a:ext>
            </a:extLst>
          </p:cNvPr>
          <p:cNvSpPr/>
          <p:nvPr/>
        </p:nvSpPr>
        <p:spPr>
          <a:xfrm>
            <a:off x="5118173" y="3924414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SortID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C92825-37DD-1F45-F6FA-903200461300}"/>
              </a:ext>
            </a:extLst>
          </p:cNvPr>
          <p:cNvSpPr/>
          <p:nvPr/>
        </p:nvSpPr>
        <p:spPr>
          <a:xfrm>
            <a:off x="5746895" y="3939134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725B04-BEF7-B9CC-E71E-ADC91618365C}"/>
              </a:ext>
            </a:extLst>
          </p:cNvPr>
          <p:cNvSpPr/>
          <p:nvPr/>
        </p:nvSpPr>
        <p:spPr>
          <a:xfrm>
            <a:off x="6390432" y="3955082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2A7DE4-A93D-ACB6-A3CA-A766194D8F29}"/>
              </a:ext>
            </a:extLst>
          </p:cNvPr>
          <p:cNvSpPr/>
          <p:nvPr/>
        </p:nvSpPr>
        <p:spPr>
          <a:xfrm>
            <a:off x="7022293" y="3939134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Aircraft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7962068-FD86-2435-FD51-151929E95953}"/>
              </a:ext>
            </a:extLst>
          </p:cNvPr>
          <p:cNvSpPr/>
          <p:nvPr/>
        </p:nvSpPr>
        <p:spPr>
          <a:xfrm>
            <a:off x="8157616" y="3931774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B96F5A-D63C-5B47-5B19-78DB99E528BA}"/>
              </a:ext>
            </a:extLst>
          </p:cNvPr>
          <p:cNvSpPr/>
          <p:nvPr/>
        </p:nvSpPr>
        <p:spPr>
          <a:xfrm>
            <a:off x="9265451" y="3924414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BE7710-F9AF-05CF-07DB-AE8D953D59FC}"/>
              </a:ext>
            </a:extLst>
          </p:cNvPr>
          <p:cNvSpPr/>
          <p:nvPr/>
        </p:nvSpPr>
        <p:spPr>
          <a:xfrm>
            <a:off x="10446724" y="3924414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B70F4C-60C4-1618-AC3F-32F9A0DACEEC}"/>
              </a:ext>
            </a:extLst>
          </p:cNvPr>
          <p:cNvSpPr/>
          <p:nvPr/>
        </p:nvSpPr>
        <p:spPr>
          <a:xfrm>
            <a:off x="5118173" y="423220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SortID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AA9D7F8-9C0F-9221-BCAA-273827226A55}"/>
              </a:ext>
            </a:extLst>
          </p:cNvPr>
          <p:cNvSpPr/>
          <p:nvPr/>
        </p:nvSpPr>
        <p:spPr>
          <a:xfrm>
            <a:off x="5746895" y="424692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FB5E09-7DF1-2C77-CAC9-A59754F578F0}"/>
              </a:ext>
            </a:extLst>
          </p:cNvPr>
          <p:cNvSpPr/>
          <p:nvPr/>
        </p:nvSpPr>
        <p:spPr>
          <a:xfrm>
            <a:off x="6390432" y="4262871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3380B03-927D-EC69-C356-36111C667399}"/>
              </a:ext>
            </a:extLst>
          </p:cNvPr>
          <p:cNvSpPr/>
          <p:nvPr/>
        </p:nvSpPr>
        <p:spPr>
          <a:xfrm>
            <a:off x="7022293" y="424692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Aircraft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E9147B5-A8A7-907A-82E6-CFF8386DB9C9}"/>
              </a:ext>
            </a:extLst>
          </p:cNvPr>
          <p:cNvSpPr/>
          <p:nvPr/>
        </p:nvSpPr>
        <p:spPr>
          <a:xfrm>
            <a:off x="8157616" y="423956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C527ED6-8154-7361-39EE-F6B3169A4E9A}"/>
              </a:ext>
            </a:extLst>
          </p:cNvPr>
          <p:cNvSpPr/>
          <p:nvPr/>
        </p:nvSpPr>
        <p:spPr>
          <a:xfrm>
            <a:off x="9265451" y="423220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49FE38F-A0C0-CB3A-2087-D891D72ACA53}"/>
              </a:ext>
            </a:extLst>
          </p:cNvPr>
          <p:cNvSpPr/>
          <p:nvPr/>
        </p:nvSpPr>
        <p:spPr>
          <a:xfrm>
            <a:off x="10446724" y="4232203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1079FCE-78E7-F181-0A5C-0EA00DF73772}"/>
              </a:ext>
            </a:extLst>
          </p:cNvPr>
          <p:cNvSpPr/>
          <p:nvPr/>
        </p:nvSpPr>
        <p:spPr>
          <a:xfrm>
            <a:off x="5106803" y="455128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SortID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FC5CBED-774B-7D34-7E6D-B317FEDB4042}"/>
              </a:ext>
            </a:extLst>
          </p:cNvPr>
          <p:cNvSpPr/>
          <p:nvPr/>
        </p:nvSpPr>
        <p:spPr>
          <a:xfrm>
            <a:off x="5735525" y="456600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A53B71-1782-D737-FCF4-2ACDD0F392C0}"/>
              </a:ext>
            </a:extLst>
          </p:cNvPr>
          <p:cNvSpPr/>
          <p:nvPr/>
        </p:nvSpPr>
        <p:spPr>
          <a:xfrm>
            <a:off x="6379062" y="4581951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BC7EA12-F644-151F-7D01-2238A4EA727B}"/>
              </a:ext>
            </a:extLst>
          </p:cNvPr>
          <p:cNvSpPr/>
          <p:nvPr/>
        </p:nvSpPr>
        <p:spPr>
          <a:xfrm>
            <a:off x="7010923" y="456600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Aircraft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EBFEFE1-E06E-4341-2F05-817F32EA8326}"/>
              </a:ext>
            </a:extLst>
          </p:cNvPr>
          <p:cNvSpPr/>
          <p:nvPr/>
        </p:nvSpPr>
        <p:spPr>
          <a:xfrm>
            <a:off x="8146246" y="455864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E77C26C-13AD-C9C6-AE51-4EDEEC1D6B21}"/>
              </a:ext>
            </a:extLst>
          </p:cNvPr>
          <p:cNvSpPr/>
          <p:nvPr/>
        </p:nvSpPr>
        <p:spPr>
          <a:xfrm>
            <a:off x="9254081" y="455128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F0FAF3-743D-B562-D06E-96D49C40F113}"/>
              </a:ext>
            </a:extLst>
          </p:cNvPr>
          <p:cNvSpPr/>
          <p:nvPr/>
        </p:nvSpPr>
        <p:spPr>
          <a:xfrm>
            <a:off x="10435354" y="4551283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5A0FDBB-9987-39A1-1121-28BBE4254287}"/>
              </a:ext>
            </a:extLst>
          </p:cNvPr>
          <p:cNvSpPr/>
          <p:nvPr/>
        </p:nvSpPr>
        <p:spPr>
          <a:xfrm>
            <a:off x="5106803" y="4889440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SortID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8345187-E278-9A34-C379-1D34D04967DD}"/>
              </a:ext>
            </a:extLst>
          </p:cNvPr>
          <p:cNvSpPr/>
          <p:nvPr/>
        </p:nvSpPr>
        <p:spPr>
          <a:xfrm>
            <a:off x="5735525" y="4904160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977A675-D99D-F443-9BFE-0A7C0526A0E1}"/>
              </a:ext>
            </a:extLst>
          </p:cNvPr>
          <p:cNvSpPr/>
          <p:nvPr/>
        </p:nvSpPr>
        <p:spPr>
          <a:xfrm>
            <a:off x="6379062" y="4920108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0A3396A-8911-32FF-D828-91BC6B8B7BEC}"/>
              </a:ext>
            </a:extLst>
          </p:cNvPr>
          <p:cNvSpPr/>
          <p:nvPr/>
        </p:nvSpPr>
        <p:spPr>
          <a:xfrm>
            <a:off x="7010923" y="4904160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Aircraft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E4AB306-B620-A654-8931-D2C69F1E64E7}"/>
              </a:ext>
            </a:extLst>
          </p:cNvPr>
          <p:cNvSpPr/>
          <p:nvPr/>
        </p:nvSpPr>
        <p:spPr>
          <a:xfrm>
            <a:off x="8146246" y="4896800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81FA7DB-EECA-07A3-97E1-EACCBD0B68C8}"/>
              </a:ext>
            </a:extLst>
          </p:cNvPr>
          <p:cNvSpPr/>
          <p:nvPr/>
        </p:nvSpPr>
        <p:spPr>
          <a:xfrm>
            <a:off x="9254081" y="4889440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5F9F55F-D094-7F6C-C1F0-99D3DA346C6C}"/>
              </a:ext>
            </a:extLst>
          </p:cNvPr>
          <p:cNvSpPr/>
          <p:nvPr/>
        </p:nvSpPr>
        <p:spPr>
          <a:xfrm>
            <a:off x="10435354" y="4889440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7056652-FFD9-F25F-5A62-91AFCCD91E77}"/>
              </a:ext>
            </a:extLst>
          </p:cNvPr>
          <p:cNvSpPr/>
          <p:nvPr/>
        </p:nvSpPr>
        <p:spPr>
          <a:xfrm>
            <a:off x="5106803" y="5261172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SortID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B7C42BC-7D67-45FE-05BF-3F133E8AC8FE}"/>
              </a:ext>
            </a:extLst>
          </p:cNvPr>
          <p:cNvSpPr/>
          <p:nvPr/>
        </p:nvSpPr>
        <p:spPr>
          <a:xfrm>
            <a:off x="5735525" y="5275892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C7167CD-A08D-D78B-CD67-C7F0DAE257DF}"/>
              </a:ext>
            </a:extLst>
          </p:cNvPr>
          <p:cNvSpPr/>
          <p:nvPr/>
        </p:nvSpPr>
        <p:spPr>
          <a:xfrm>
            <a:off x="6379062" y="5291840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AEA4197-B80A-B641-1810-F97DB6F07818}"/>
              </a:ext>
            </a:extLst>
          </p:cNvPr>
          <p:cNvSpPr/>
          <p:nvPr/>
        </p:nvSpPr>
        <p:spPr>
          <a:xfrm>
            <a:off x="7010923" y="5275892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Aircraft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BD24BBA-0C2C-EBD5-DEFB-251A53CACBA6}"/>
              </a:ext>
            </a:extLst>
          </p:cNvPr>
          <p:cNvSpPr/>
          <p:nvPr/>
        </p:nvSpPr>
        <p:spPr>
          <a:xfrm>
            <a:off x="8146246" y="5268532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979894E-85CD-7BEB-2BCA-317AE8CE78DD}"/>
              </a:ext>
            </a:extLst>
          </p:cNvPr>
          <p:cNvSpPr/>
          <p:nvPr/>
        </p:nvSpPr>
        <p:spPr>
          <a:xfrm>
            <a:off x="9254081" y="5261172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20D8911-6F9F-8652-A047-268BBCDCAF7E}"/>
              </a:ext>
            </a:extLst>
          </p:cNvPr>
          <p:cNvSpPr/>
          <p:nvPr/>
        </p:nvSpPr>
        <p:spPr>
          <a:xfrm>
            <a:off x="10435354" y="5261172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85CEDF-5EEC-6B96-4842-5D0E419AB11A}"/>
              </a:ext>
            </a:extLst>
          </p:cNvPr>
          <p:cNvSpPr txBox="1"/>
          <p:nvPr/>
        </p:nvSpPr>
        <p:spPr>
          <a:xfrm flipH="1">
            <a:off x="5609238" y="5814009"/>
            <a:ext cx="218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Click ID to view/update Cortie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2B9F7289-5F70-E6ED-0587-87CBB28E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>
            <a:extLst>
              <a:ext uri="{FF2B5EF4-FFF2-40B4-BE49-F238E27FC236}">
                <a16:creationId xmlns:a16="http://schemas.microsoft.com/office/drawing/2014/main" id="{A5CEF073-25DC-D651-9543-B3AF34471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Sortie Flight Plan</a:t>
            </a:r>
            <a:endParaRPr dirty="0"/>
          </a:p>
        </p:txBody>
      </p:sp>
      <p:sp>
        <p:nvSpPr>
          <p:cNvPr id="275" name="Google Shape;275;p9">
            <a:extLst>
              <a:ext uri="{FF2B5EF4-FFF2-40B4-BE49-F238E27FC236}">
                <a16:creationId xmlns:a16="http://schemas.microsoft.com/office/drawing/2014/main" id="{712FB273-9475-085A-C01D-18031EEEC4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011604" y="61753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569093-D8B5-116F-1AD0-CF5992156598}"/>
              </a:ext>
            </a:extLst>
          </p:cNvPr>
          <p:cNvSpPr/>
          <p:nvPr/>
        </p:nvSpPr>
        <p:spPr>
          <a:xfrm>
            <a:off x="2925233" y="2218267"/>
            <a:ext cx="6341533" cy="432225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5BC65-3A46-02E8-5B60-CE86505DB180}"/>
              </a:ext>
            </a:extLst>
          </p:cNvPr>
          <p:cNvSpPr txBox="1"/>
          <p:nvPr/>
        </p:nvSpPr>
        <p:spPr>
          <a:xfrm>
            <a:off x="2857500" y="3546613"/>
            <a:ext cx="6409266" cy="253916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Flight 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5118C-7F5D-5D58-2AF5-320156FA7E5C}"/>
              </a:ext>
            </a:extLst>
          </p:cNvPr>
          <p:cNvSpPr txBox="1"/>
          <p:nvPr/>
        </p:nvSpPr>
        <p:spPr>
          <a:xfrm>
            <a:off x="2857500" y="2171857"/>
            <a:ext cx="6409266" cy="253916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err="1">
                <a:solidFill>
                  <a:schemeClr val="bg1"/>
                </a:solidFill>
              </a:rPr>
              <a:t>Sportie</a:t>
            </a:r>
            <a:r>
              <a:rPr lang="en-US" sz="1050" dirty="0">
                <a:solidFill>
                  <a:schemeClr val="bg1"/>
                </a:solidFill>
              </a:rPr>
              <a:t> Details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419116-D16F-3841-FC1C-6B4A5113DD28}"/>
              </a:ext>
            </a:extLst>
          </p:cNvPr>
          <p:cNvSpPr/>
          <p:nvPr/>
        </p:nvSpPr>
        <p:spPr>
          <a:xfrm>
            <a:off x="2961453" y="2440428"/>
            <a:ext cx="491066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E9CE81-DA47-1AFA-F429-5E98A00A366E}"/>
              </a:ext>
            </a:extLst>
          </p:cNvPr>
          <p:cNvSpPr/>
          <p:nvPr/>
        </p:nvSpPr>
        <p:spPr>
          <a:xfrm>
            <a:off x="3557094" y="2448978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E7CC83-CE84-5D16-4378-B83D83EF64DE}"/>
              </a:ext>
            </a:extLst>
          </p:cNvPr>
          <p:cNvSpPr/>
          <p:nvPr/>
        </p:nvSpPr>
        <p:spPr>
          <a:xfrm>
            <a:off x="4773940" y="2448978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Requestor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C1641B-CA02-1E8A-6E96-218C5360617A}"/>
              </a:ext>
            </a:extLst>
          </p:cNvPr>
          <p:cNvSpPr/>
          <p:nvPr/>
        </p:nvSpPr>
        <p:spPr>
          <a:xfrm>
            <a:off x="2988805" y="2816974"/>
            <a:ext cx="491066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018705-4F25-FF59-990A-A6FCD5EF64C1}"/>
              </a:ext>
            </a:extLst>
          </p:cNvPr>
          <p:cNvSpPr/>
          <p:nvPr/>
        </p:nvSpPr>
        <p:spPr>
          <a:xfrm>
            <a:off x="3571676" y="2833907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73DED3-21A5-5266-240E-ECB844E55E6C}"/>
              </a:ext>
            </a:extLst>
          </p:cNvPr>
          <p:cNvSpPr/>
          <p:nvPr/>
        </p:nvSpPr>
        <p:spPr>
          <a:xfrm>
            <a:off x="2988805" y="3188944"/>
            <a:ext cx="491066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FED60C-F0E7-7E2D-8337-4EAD2B144D23}"/>
              </a:ext>
            </a:extLst>
          </p:cNvPr>
          <p:cNvSpPr/>
          <p:nvPr/>
        </p:nvSpPr>
        <p:spPr>
          <a:xfrm>
            <a:off x="4852405" y="2831481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Commander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7667B0-1BCD-654D-0838-72FE45B33E25}"/>
              </a:ext>
            </a:extLst>
          </p:cNvPr>
          <p:cNvSpPr/>
          <p:nvPr/>
        </p:nvSpPr>
        <p:spPr>
          <a:xfrm>
            <a:off x="4839008" y="3142534"/>
            <a:ext cx="1112271" cy="235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Price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F44BFC-14CF-FCF6-BC37-B946793D536E}"/>
              </a:ext>
            </a:extLst>
          </p:cNvPr>
          <p:cNvSpPr/>
          <p:nvPr/>
        </p:nvSpPr>
        <p:spPr>
          <a:xfrm>
            <a:off x="3571676" y="3175628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D06DE30-CB2E-C8FA-3A82-20DED67F3B63}"/>
              </a:ext>
            </a:extLst>
          </p:cNvPr>
          <p:cNvSpPr/>
          <p:nvPr/>
        </p:nvSpPr>
        <p:spPr>
          <a:xfrm>
            <a:off x="2988806" y="3873614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WPtID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36A890-16C4-2C8B-439D-68662330D42A}"/>
              </a:ext>
            </a:extLst>
          </p:cNvPr>
          <p:cNvSpPr/>
          <p:nvPr/>
        </p:nvSpPr>
        <p:spPr>
          <a:xfrm>
            <a:off x="3617528" y="3888334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3DDAA9-778A-1BAB-81CE-F272E898C766}"/>
              </a:ext>
            </a:extLst>
          </p:cNvPr>
          <p:cNvSpPr/>
          <p:nvPr/>
        </p:nvSpPr>
        <p:spPr>
          <a:xfrm>
            <a:off x="4261065" y="3904282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93AF90-A18B-6692-91DE-B9A9F2A0AAAD}"/>
              </a:ext>
            </a:extLst>
          </p:cNvPr>
          <p:cNvSpPr/>
          <p:nvPr/>
        </p:nvSpPr>
        <p:spPr>
          <a:xfrm>
            <a:off x="4892926" y="3888334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Stage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3990048-FBB7-537B-50B9-0D0F4BFAD40A}"/>
              </a:ext>
            </a:extLst>
          </p:cNvPr>
          <p:cNvSpPr/>
          <p:nvPr/>
        </p:nvSpPr>
        <p:spPr>
          <a:xfrm>
            <a:off x="6028249" y="3880974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AC Nav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9035E4-C118-E826-314A-38A317707BD5}"/>
              </a:ext>
            </a:extLst>
          </p:cNvPr>
          <p:cNvSpPr/>
          <p:nvPr/>
        </p:nvSpPr>
        <p:spPr>
          <a:xfrm>
            <a:off x="7136084" y="3873614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08412FA-C8FB-2609-FCCB-213D7E887FD1}"/>
              </a:ext>
            </a:extLst>
          </p:cNvPr>
          <p:cNvSpPr/>
          <p:nvPr/>
        </p:nvSpPr>
        <p:spPr>
          <a:xfrm>
            <a:off x="8317357" y="3873614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BF5D7AD-60CE-11A8-D227-697FBEDF1C39}"/>
              </a:ext>
            </a:extLst>
          </p:cNvPr>
          <p:cNvSpPr/>
          <p:nvPr/>
        </p:nvSpPr>
        <p:spPr>
          <a:xfrm>
            <a:off x="2988806" y="418140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WPID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D6D7389-41AA-F850-EA04-310BFA249B6A}"/>
              </a:ext>
            </a:extLst>
          </p:cNvPr>
          <p:cNvSpPr/>
          <p:nvPr/>
        </p:nvSpPr>
        <p:spPr>
          <a:xfrm>
            <a:off x="3617528" y="419612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3B8E5DF-2A51-FD51-1EA1-EA0A9252089E}"/>
              </a:ext>
            </a:extLst>
          </p:cNvPr>
          <p:cNvSpPr/>
          <p:nvPr/>
        </p:nvSpPr>
        <p:spPr>
          <a:xfrm>
            <a:off x="4261065" y="4212071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2F9666C-4756-03E8-684B-B93AA1FDC880}"/>
              </a:ext>
            </a:extLst>
          </p:cNvPr>
          <p:cNvSpPr/>
          <p:nvPr/>
        </p:nvSpPr>
        <p:spPr>
          <a:xfrm>
            <a:off x="4892926" y="419612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Stage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CBE220B-86D5-2EAB-F809-FA6027790BE1}"/>
              </a:ext>
            </a:extLst>
          </p:cNvPr>
          <p:cNvSpPr/>
          <p:nvPr/>
        </p:nvSpPr>
        <p:spPr>
          <a:xfrm>
            <a:off x="6028249" y="418876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AC Nav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DDB8B31-8581-547A-9D67-64DE643F7D2C}"/>
              </a:ext>
            </a:extLst>
          </p:cNvPr>
          <p:cNvSpPr/>
          <p:nvPr/>
        </p:nvSpPr>
        <p:spPr>
          <a:xfrm>
            <a:off x="7136084" y="418140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F212DE9-6EEA-4663-05D7-ECF8032E18A7}"/>
              </a:ext>
            </a:extLst>
          </p:cNvPr>
          <p:cNvSpPr/>
          <p:nvPr/>
        </p:nvSpPr>
        <p:spPr>
          <a:xfrm>
            <a:off x="8317357" y="4181403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D22BD72-7714-C6CC-B757-19ED6118381D}"/>
              </a:ext>
            </a:extLst>
          </p:cNvPr>
          <p:cNvSpPr/>
          <p:nvPr/>
        </p:nvSpPr>
        <p:spPr>
          <a:xfrm>
            <a:off x="2977436" y="450048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WPID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0602F7-2D6A-7872-3AC3-3957B654CFA3}"/>
              </a:ext>
            </a:extLst>
          </p:cNvPr>
          <p:cNvSpPr/>
          <p:nvPr/>
        </p:nvSpPr>
        <p:spPr>
          <a:xfrm>
            <a:off x="3606158" y="4515203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7DED514-E114-EE66-C487-E0B070C18548}"/>
              </a:ext>
            </a:extLst>
          </p:cNvPr>
          <p:cNvSpPr/>
          <p:nvPr/>
        </p:nvSpPr>
        <p:spPr>
          <a:xfrm>
            <a:off x="4249695" y="4531151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181408E-85AE-FA4C-4879-D08B9DB1406F}"/>
              </a:ext>
            </a:extLst>
          </p:cNvPr>
          <p:cNvSpPr/>
          <p:nvPr/>
        </p:nvSpPr>
        <p:spPr>
          <a:xfrm>
            <a:off x="4881556" y="451520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Stage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C415E81-105E-B422-2491-B1B5C5DC3C22}"/>
              </a:ext>
            </a:extLst>
          </p:cNvPr>
          <p:cNvSpPr/>
          <p:nvPr/>
        </p:nvSpPr>
        <p:spPr>
          <a:xfrm>
            <a:off x="6016879" y="450784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AC Nav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24ED983-F742-C66F-3194-684E008270DF}"/>
              </a:ext>
            </a:extLst>
          </p:cNvPr>
          <p:cNvSpPr/>
          <p:nvPr/>
        </p:nvSpPr>
        <p:spPr>
          <a:xfrm>
            <a:off x="7124714" y="4500483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C9DF708-331F-EA0F-A655-190A5DE6B9B6}"/>
              </a:ext>
            </a:extLst>
          </p:cNvPr>
          <p:cNvSpPr/>
          <p:nvPr/>
        </p:nvSpPr>
        <p:spPr>
          <a:xfrm>
            <a:off x="8305987" y="4500483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A6CED3D-A004-4EC1-58B4-F2E50328A6A7}"/>
              </a:ext>
            </a:extLst>
          </p:cNvPr>
          <p:cNvSpPr/>
          <p:nvPr/>
        </p:nvSpPr>
        <p:spPr>
          <a:xfrm>
            <a:off x="2977436" y="4838640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WPID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71E5F84-4503-7C16-CCA2-C4419A015C57}"/>
              </a:ext>
            </a:extLst>
          </p:cNvPr>
          <p:cNvSpPr/>
          <p:nvPr/>
        </p:nvSpPr>
        <p:spPr>
          <a:xfrm>
            <a:off x="3606158" y="4853360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5E245AF-F73A-499C-0720-329F8D3DF526}"/>
              </a:ext>
            </a:extLst>
          </p:cNvPr>
          <p:cNvSpPr/>
          <p:nvPr/>
        </p:nvSpPr>
        <p:spPr>
          <a:xfrm>
            <a:off x="4249695" y="4869308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9A55059-8F81-22B7-B185-CC5D6444FD62}"/>
              </a:ext>
            </a:extLst>
          </p:cNvPr>
          <p:cNvSpPr/>
          <p:nvPr/>
        </p:nvSpPr>
        <p:spPr>
          <a:xfrm>
            <a:off x="4881556" y="4853360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Stage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61D841E-42EE-01D1-5A58-42A5BF03926D}"/>
              </a:ext>
            </a:extLst>
          </p:cNvPr>
          <p:cNvSpPr/>
          <p:nvPr/>
        </p:nvSpPr>
        <p:spPr>
          <a:xfrm>
            <a:off x="6016879" y="4846000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AC2B396-6A07-83C4-C756-CBCAE7E040F6}"/>
              </a:ext>
            </a:extLst>
          </p:cNvPr>
          <p:cNvSpPr/>
          <p:nvPr/>
        </p:nvSpPr>
        <p:spPr>
          <a:xfrm>
            <a:off x="7124714" y="4838640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Objetive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172B612-836B-6393-94AD-88E24CF5A51A}"/>
              </a:ext>
            </a:extLst>
          </p:cNvPr>
          <p:cNvSpPr/>
          <p:nvPr/>
        </p:nvSpPr>
        <p:spPr>
          <a:xfrm>
            <a:off x="8305987" y="4838640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528D91F-BBB8-F036-05A4-67D2E3C0B41F}"/>
              </a:ext>
            </a:extLst>
          </p:cNvPr>
          <p:cNvSpPr/>
          <p:nvPr/>
        </p:nvSpPr>
        <p:spPr>
          <a:xfrm>
            <a:off x="2977436" y="5210372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WPID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2323DE1-2B6D-9212-9CB0-C0683AFC5D07}"/>
              </a:ext>
            </a:extLst>
          </p:cNvPr>
          <p:cNvSpPr/>
          <p:nvPr/>
        </p:nvSpPr>
        <p:spPr>
          <a:xfrm>
            <a:off x="3606158" y="5225092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0DA9FEB-C66E-2FA0-F51F-D64A365E3B9D}"/>
              </a:ext>
            </a:extLst>
          </p:cNvPr>
          <p:cNvSpPr/>
          <p:nvPr/>
        </p:nvSpPr>
        <p:spPr>
          <a:xfrm>
            <a:off x="4249695" y="5241040"/>
            <a:ext cx="568288" cy="253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093E63A-E2DE-DE09-F3C9-F53F078A6727}"/>
              </a:ext>
            </a:extLst>
          </p:cNvPr>
          <p:cNvSpPr/>
          <p:nvPr/>
        </p:nvSpPr>
        <p:spPr>
          <a:xfrm>
            <a:off x="4881556" y="5225092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Stage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B168AEA-6244-DC4C-D42D-15F791B323FD}"/>
              </a:ext>
            </a:extLst>
          </p:cNvPr>
          <p:cNvSpPr/>
          <p:nvPr/>
        </p:nvSpPr>
        <p:spPr>
          <a:xfrm>
            <a:off x="6016879" y="5217732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918CACD-6C04-D9E6-49A3-0EB06773EE2E}"/>
              </a:ext>
            </a:extLst>
          </p:cNvPr>
          <p:cNvSpPr/>
          <p:nvPr/>
        </p:nvSpPr>
        <p:spPr>
          <a:xfrm>
            <a:off x="7124714" y="5210372"/>
            <a:ext cx="1071750" cy="2391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B9F43EE-AC3E-443E-903C-07BDD3AE6930}"/>
              </a:ext>
            </a:extLst>
          </p:cNvPr>
          <p:cNvSpPr/>
          <p:nvPr/>
        </p:nvSpPr>
        <p:spPr>
          <a:xfrm>
            <a:off x="8305987" y="5210372"/>
            <a:ext cx="693315" cy="2299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6AB84A-A0FD-6BBD-8900-77DDBF99754A}"/>
              </a:ext>
            </a:extLst>
          </p:cNvPr>
          <p:cNvSpPr txBox="1"/>
          <p:nvPr/>
        </p:nvSpPr>
        <p:spPr>
          <a:xfrm flipH="1">
            <a:off x="2857500" y="5787029"/>
            <a:ext cx="6409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Stages = </a:t>
            </a:r>
            <a:r>
              <a:rPr lang="en-US" sz="1000" dirty="0" err="1">
                <a:solidFill>
                  <a:schemeClr val="bg1"/>
                </a:solidFill>
              </a:rPr>
              <a:t>PreFlight</a:t>
            </a:r>
            <a:r>
              <a:rPr lang="en-US" sz="1000" dirty="0">
                <a:solidFill>
                  <a:schemeClr val="bg1"/>
                </a:solidFill>
              </a:rPr>
              <a:t>, Launch, Transit, Survey, Perform, Return, Land, </a:t>
            </a:r>
            <a:r>
              <a:rPr lang="en-US" sz="1000" dirty="0" err="1">
                <a:solidFill>
                  <a:schemeClr val="bg1"/>
                </a:solidFill>
              </a:rPr>
              <a:t>PostFlight</a:t>
            </a:r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Way Pt AC  Nav = </a:t>
            </a:r>
            <a:r>
              <a:rPr lang="en-US" sz="1000" dirty="0" err="1">
                <a:solidFill>
                  <a:schemeClr val="bg1"/>
                </a:solidFill>
              </a:rPr>
              <a:t>GeoLoc</a:t>
            </a:r>
            <a:r>
              <a:rPr lang="en-US" sz="1000" dirty="0">
                <a:solidFill>
                  <a:schemeClr val="bg1"/>
                </a:solidFill>
              </a:rPr>
              <a:t>, Alt, Speed, Heading,  Range Used, Range Remain, Sens On/Off, Pylad Events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C4993BA-91FE-BE67-F76E-224EE93756EA}"/>
              </a:ext>
            </a:extLst>
          </p:cNvPr>
          <p:cNvSpPr/>
          <p:nvPr/>
        </p:nvSpPr>
        <p:spPr>
          <a:xfrm>
            <a:off x="6077408" y="2467228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Aircraft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4B04B02-56B1-547B-8447-945AF3AF191F}"/>
              </a:ext>
            </a:extLst>
          </p:cNvPr>
          <p:cNvSpPr/>
          <p:nvPr/>
        </p:nvSpPr>
        <p:spPr>
          <a:xfrm>
            <a:off x="6095999" y="2814782"/>
            <a:ext cx="1112271" cy="253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Pilot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B97A418-1125-9CC3-77A6-60C61B0C27DC}"/>
              </a:ext>
            </a:extLst>
          </p:cNvPr>
          <p:cNvSpPr/>
          <p:nvPr/>
        </p:nvSpPr>
        <p:spPr>
          <a:xfrm>
            <a:off x="6077407" y="3126730"/>
            <a:ext cx="1112271" cy="235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27656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23C52472-C5BE-6BD7-8714-5DD86FE2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>
            <a:extLst>
              <a:ext uri="{FF2B5EF4-FFF2-40B4-BE49-F238E27FC236}">
                <a16:creationId xmlns:a16="http://schemas.microsoft.com/office/drawing/2014/main" id="{517FD442-2461-4955-A367-CC8D03E73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Multi-Mission Mgt (M2)</a:t>
            </a:r>
            <a:endParaRPr dirty="0"/>
          </a:p>
        </p:txBody>
      </p:sp>
      <p:sp>
        <p:nvSpPr>
          <p:cNvPr id="275" name="Google Shape;275;p9">
            <a:extLst>
              <a:ext uri="{FF2B5EF4-FFF2-40B4-BE49-F238E27FC236}">
                <a16:creationId xmlns:a16="http://schemas.microsoft.com/office/drawing/2014/main" id="{19D99F54-06B3-3942-610A-D33F674966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76" name="Google Shape;276;p9" descr="Amazon Chime 5.21 Release Notes - Chime">
            <a:extLst>
              <a:ext uri="{FF2B5EF4-FFF2-40B4-BE49-F238E27FC236}">
                <a16:creationId xmlns:a16="http://schemas.microsoft.com/office/drawing/2014/main" id="{97F770E6-7521-0E55-33C2-DED14313A8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9620" y="2100067"/>
            <a:ext cx="7467481" cy="4595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9">
            <a:extLst>
              <a:ext uri="{FF2B5EF4-FFF2-40B4-BE49-F238E27FC236}">
                <a16:creationId xmlns:a16="http://schemas.microsoft.com/office/drawing/2014/main" id="{48356CC6-3632-83C7-FDC9-719549EDD6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4901" y="2100067"/>
            <a:ext cx="974541" cy="124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9">
            <a:extLst>
              <a:ext uri="{FF2B5EF4-FFF2-40B4-BE49-F238E27FC236}">
                <a16:creationId xmlns:a16="http://schemas.microsoft.com/office/drawing/2014/main" id="{FBF4928F-538A-3BC6-2A8A-3031C11185F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9442" y="2100067"/>
            <a:ext cx="828541" cy="12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9">
            <a:extLst>
              <a:ext uri="{FF2B5EF4-FFF2-40B4-BE49-F238E27FC236}">
                <a16:creationId xmlns:a16="http://schemas.microsoft.com/office/drawing/2014/main" id="{8BC21917-C192-5176-B0FB-44F6009391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87481" y="2107109"/>
            <a:ext cx="1238033" cy="123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9" descr="Firefighter Cell Phone Stock Photos ...">
            <a:extLst>
              <a:ext uri="{FF2B5EF4-FFF2-40B4-BE49-F238E27FC236}">
                <a16:creationId xmlns:a16="http://schemas.microsoft.com/office/drawing/2014/main" id="{536348ED-F728-6A32-AC08-CAB8F476043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2161" y="2100067"/>
            <a:ext cx="1871014" cy="12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9" descr="Profile photo of Robert Lee">
            <a:extLst>
              <a:ext uri="{FF2B5EF4-FFF2-40B4-BE49-F238E27FC236}">
                <a16:creationId xmlns:a16="http://schemas.microsoft.com/office/drawing/2014/main" id="{3FB88632-EED4-D611-FC22-BA95CF6409C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70313" y="2100067"/>
            <a:ext cx="1110966" cy="123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9" descr="Fire Icon Vector Art, Icons, and Graphics for Free Download">
            <a:extLst>
              <a:ext uri="{FF2B5EF4-FFF2-40B4-BE49-F238E27FC236}">
                <a16:creationId xmlns:a16="http://schemas.microsoft.com/office/drawing/2014/main" id="{86897A14-4AE4-FA18-EA14-1684ABD6214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6497" y="4315557"/>
            <a:ext cx="848334" cy="70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9">
            <a:extLst>
              <a:ext uri="{FF2B5EF4-FFF2-40B4-BE49-F238E27FC236}">
                <a16:creationId xmlns:a16="http://schemas.microsoft.com/office/drawing/2014/main" id="{89535819-6426-58E9-0B70-1BE2CB50A22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4214372">
            <a:off x="7704924" y="3969142"/>
            <a:ext cx="522005" cy="49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9" descr="Drone POV: Soaring Over Iceland's ...">
            <a:extLst>
              <a:ext uri="{FF2B5EF4-FFF2-40B4-BE49-F238E27FC236}">
                <a16:creationId xmlns:a16="http://schemas.microsoft.com/office/drawing/2014/main" id="{43372BF1-17FB-7FFD-6C7C-B15B8E00451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86677" y="3402825"/>
            <a:ext cx="1150937" cy="8620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9">
            <a:extLst>
              <a:ext uri="{FF2B5EF4-FFF2-40B4-BE49-F238E27FC236}">
                <a16:creationId xmlns:a16="http://schemas.microsoft.com/office/drawing/2014/main" id="{467FB9E4-1349-D83F-EE54-45BCD3CE88CA}"/>
              </a:ext>
            </a:extLst>
          </p:cNvPr>
          <p:cNvCxnSpPr/>
          <p:nvPr/>
        </p:nvCxnSpPr>
        <p:spPr>
          <a:xfrm rot="10800000" flipH="1">
            <a:off x="8013700" y="3429000"/>
            <a:ext cx="272977" cy="7871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6" name="Google Shape;286;p9">
            <a:extLst>
              <a:ext uri="{FF2B5EF4-FFF2-40B4-BE49-F238E27FC236}">
                <a16:creationId xmlns:a16="http://schemas.microsoft.com/office/drawing/2014/main" id="{F0A94E35-0AC1-7E5A-26CA-04D7C3A2F8F8}"/>
              </a:ext>
            </a:extLst>
          </p:cNvPr>
          <p:cNvCxnSpPr/>
          <p:nvPr/>
        </p:nvCxnSpPr>
        <p:spPr>
          <a:xfrm>
            <a:off x="8083175" y="4216198"/>
            <a:ext cx="203502" cy="487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" name="Google Shape;287;p9">
            <a:extLst>
              <a:ext uri="{FF2B5EF4-FFF2-40B4-BE49-F238E27FC236}">
                <a16:creationId xmlns:a16="http://schemas.microsoft.com/office/drawing/2014/main" id="{634D4540-5CFA-C58E-8DE7-C385154F844A}"/>
              </a:ext>
            </a:extLst>
          </p:cNvPr>
          <p:cNvSpPr/>
          <p:nvPr/>
        </p:nvSpPr>
        <p:spPr>
          <a:xfrm>
            <a:off x="8830664" y="3887037"/>
            <a:ext cx="310307" cy="215063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>
            <a:extLst>
              <a:ext uri="{FF2B5EF4-FFF2-40B4-BE49-F238E27FC236}">
                <a16:creationId xmlns:a16="http://schemas.microsoft.com/office/drawing/2014/main" id="{8F02E736-2A5B-7847-7093-9360101E90BC}"/>
              </a:ext>
            </a:extLst>
          </p:cNvPr>
          <p:cNvSpPr/>
          <p:nvPr/>
        </p:nvSpPr>
        <p:spPr>
          <a:xfrm>
            <a:off x="8509000" y="3784600"/>
            <a:ext cx="146201" cy="10243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9">
            <a:extLst>
              <a:ext uri="{FF2B5EF4-FFF2-40B4-BE49-F238E27FC236}">
                <a16:creationId xmlns:a16="http://schemas.microsoft.com/office/drawing/2014/main" id="{4CC8C922-1F1E-1B9C-9B76-CD448C37AAC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22841" y="3377179"/>
            <a:ext cx="146317" cy="10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 descr="Unique Fire Truck Vector Icon 14707363 ...">
            <a:extLst>
              <a:ext uri="{FF2B5EF4-FFF2-40B4-BE49-F238E27FC236}">
                <a16:creationId xmlns:a16="http://schemas.microsoft.com/office/drawing/2014/main" id="{1DA9D6BE-840F-C89E-449A-2E634018150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8507" y="5003396"/>
            <a:ext cx="257311" cy="257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9" descr="Unique Fire Truck Vector Icon 14707363 ...">
            <a:extLst>
              <a:ext uri="{FF2B5EF4-FFF2-40B4-BE49-F238E27FC236}">
                <a16:creationId xmlns:a16="http://schemas.microsoft.com/office/drawing/2014/main" id="{329FA5AD-7867-0F3F-946D-F00E52D203F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25514" y="5082861"/>
            <a:ext cx="257311" cy="25731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>
            <a:extLst>
              <a:ext uri="{FF2B5EF4-FFF2-40B4-BE49-F238E27FC236}">
                <a16:creationId xmlns:a16="http://schemas.microsoft.com/office/drawing/2014/main" id="{CBAEDDA8-DB18-5860-48F7-B1EBC6269B51}"/>
              </a:ext>
            </a:extLst>
          </p:cNvPr>
          <p:cNvSpPr txBox="1"/>
          <p:nvPr/>
        </p:nvSpPr>
        <p:spPr>
          <a:xfrm>
            <a:off x="8286677" y="3352183"/>
            <a:ext cx="99097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for Full Screen</a:t>
            </a:r>
            <a:endParaRPr/>
          </a:p>
        </p:txBody>
      </p:sp>
      <p:pic>
        <p:nvPicPr>
          <p:cNvPr id="293" name="Google Shape;293;p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17E7E2-E655-9490-73E3-7F7E5AD71309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04520" y="3260612"/>
            <a:ext cx="5782373" cy="3252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3026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Missions</a:t>
            </a:r>
            <a:endParaRPr dirty="0"/>
          </a:p>
        </p:txBody>
      </p:sp>
      <p:sp>
        <p:nvSpPr>
          <p:cNvPr id="300" name="Google Shape;300;p10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01" name="Google Shape;301;p10" descr="Amazon Chime 5.21 Release Notes - Chi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9620" y="2100067"/>
            <a:ext cx="7467481" cy="4595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4901" y="2100067"/>
            <a:ext cx="974541" cy="124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9442" y="2100067"/>
            <a:ext cx="828541" cy="12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87481" y="2107109"/>
            <a:ext cx="1238033" cy="123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0" descr="Firefighter Cell Phone Stock Photos ..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2161" y="2100067"/>
            <a:ext cx="1871014" cy="12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0" descr="Profile photo of Robert Le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70313" y="2100067"/>
            <a:ext cx="1110966" cy="123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0" descr="Fire Icon Vector Art, Icons, and Graphics for Free Downloa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6497" y="4315557"/>
            <a:ext cx="848334" cy="70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4214372">
            <a:off x="7704924" y="3969142"/>
            <a:ext cx="522005" cy="49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" descr="Drone POV: Soaring Over Iceland's ..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86677" y="3402825"/>
            <a:ext cx="1150937" cy="8620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10"/>
          <p:cNvCxnSpPr/>
          <p:nvPr/>
        </p:nvCxnSpPr>
        <p:spPr>
          <a:xfrm rot="10800000" flipH="1">
            <a:off x="8013700" y="3429000"/>
            <a:ext cx="272977" cy="7871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1" name="Google Shape;311;p10"/>
          <p:cNvCxnSpPr/>
          <p:nvPr/>
        </p:nvCxnSpPr>
        <p:spPr>
          <a:xfrm>
            <a:off x="8083175" y="4216198"/>
            <a:ext cx="203502" cy="487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2" name="Google Shape;312;p10"/>
          <p:cNvSpPr/>
          <p:nvPr/>
        </p:nvSpPr>
        <p:spPr>
          <a:xfrm>
            <a:off x="8830664" y="3887037"/>
            <a:ext cx="310307" cy="215063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509000" y="3784600"/>
            <a:ext cx="146201" cy="10243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22841" y="3377179"/>
            <a:ext cx="146317" cy="10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0" descr="Unique Fire Truck Vector Icon 14707363 ..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8507" y="5003396"/>
            <a:ext cx="257311" cy="257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0" descr="Unique Fire Truck Vector Icon 14707363 ..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25514" y="5082861"/>
            <a:ext cx="257311" cy="25731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 txBox="1"/>
          <p:nvPr/>
        </p:nvSpPr>
        <p:spPr>
          <a:xfrm>
            <a:off x="8286677" y="3352183"/>
            <a:ext cx="99097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for Full Screen</a:t>
            </a:r>
            <a:endParaRPr/>
          </a:p>
        </p:txBody>
      </p:sp>
      <p:pic>
        <p:nvPicPr>
          <p:cNvPr id="318" name="Google Shape;318;p10" descr="A screenshot of a computer&#10;&#10;AI-generated content may be incorrect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25481" y="3309609"/>
            <a:ext cx="5589496" cy="3144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Missions AI Feeds</a:t>
            </a:r>
            <a:endParaRPr dirty="0"/>
          </a:p>
        </p:txBody>
      </p:sp>
      <p:sp>
        <p:nvSpPr>
          <p:cNvPr id="325" name="Google Shape;325;p11"/>
          <p:cNvSpPr txBox="1">
            <a:spLocks noGrp="1"/>
          </p:cNvSpPr>
          <p:nvPr>
            <p:ph type="sldNum" idx="12"/>
          </p:nvPr>
        </p:nvSpPr>
        <p:spPr>
          <a:xfrm>
            <a:off x="9140971" y="62261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26" name="Google Shape;326;p11" descr="Amazon Chime 5.21 Release Notes - Chi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9620" y="2100067"/>
            <a:ext cx="7467481" cy="4595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4901" y="2100067"/>
            <a:ext cx="974541" cy="124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9442" y="2100067"/>
            <a:ext cx="828541" cy="12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87481" y="2107109"/>
            <a:ext cx="1238033" cy="123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1" descr="Firefighter Cell Phone Stock Photos ..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2161" y="2100067"/>
            <a:ext cx="1871014" cy="12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1" descr="Profile photo of Robert Le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70313" y="2100067"/>
            <a:ext cx="1110966" cy="123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1" descr="Fire Icon Vector Art, Icons, and Graphics for Free Downloa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6497" y="4315557"/>
            <a:ext cx="848334" cy="70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4214372">
            <a:off x="7704924" y="3969142"/>
            <a:ext cx="522005" cy="49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1" descr="Drone POV: Soaring Over Iceland's ..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86677" y="3402825"/>
            <a:ext cx="1150937" cy="8620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11"/>
          <p:cNvCxnSpPr/>
          <p:nvPr/>
        </p:nvCxnSpPr>
        <p:spPr>
          <a:xfrm rot="10800000" flipH="1">
            <a:off x="8013700" y="3429000"/>
            <a:ext cx="272977" cy="7871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" name="Google Shape;336;p11"/>
          <p:cNvCxnSpPr/>
          <p:nvPr/>
        </p:nvCxnSpPr>
        <p:spPr>
          <a:xfrm>
            <a:off x="8083175" y="4216198"/>
            <a:ext cx="203502" cy="487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7" name="Google Shape;337;p11"/>
          <p:cNvSpPr/>
          <p:nvPr/>
        </p:nvSpPr>
        <p:spPr>
          <a:xfrm>
            <a:off x="8830664" y="3887037"/>
            <a:ext cx="310307" cy="215063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509000" y="3784600"/>
            <a:ext cx="146201" cy="10243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1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22841" y="3377179"/>
            <a:ext cx="146317" cy="10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1" descr="Unique Fire Truck Vector Icon 14707363 ..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8507" y="5003396"/>
            <a:ext cx="257311" cy="257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1" descr="Unique Fire Truck Vector Icon 14707363 ..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25514" y="5082861"/>
            <a:ext cx="257311" cy="25731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1"/>
          <p:cNvSpPr txBox="1"/>
          <p:nvPr/>
        </p:nvSpPr>
        <p:spPr>
          <a:xfrm>
            <a:off x="8286677" y="3352183"/>
            <a:ext cx="99097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for Full Screen</a:t>
            </a:r>
            <a:endParaRPr/>
          </a:p>
        </p:txBody>
      </p:sp>
      <p:pic>
        <p:nvPicPr>
          <p:cNvPr id="343" name="Google Shape;343;p11" descr="A computer screen shot of a field&#10;&#10;AI-generated content may be incorrect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14895" y="3251771"/>
            <a:ext cx="5594344" cy="3146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"/>
          <p:cNvSpPr txBox="1"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3200"/>
              <a:buFont typeface="Arial"/>
              <a:buNone/>
            </a:pPr>
            <a:r>
              <a:rPr lang="en-US" dirty="0"/>
              <a:t>Missions ( AFTER ACTION)</a:t>
            </a:r>
            <a:endParaRPr dirty="0"/>
          </a:p>
        </p:txBody>
      </p:sp>
      <p:sp>
        <p:nvSpPr>
          <p:cNvPr id="2" name="Google Shape;218;p5">
            <a:extLst>
              <a:ext uri="{FF2B5EF4-FFF2-40B4-BE49-F238E27FC236}">
                <a16:creationId xmlns:a16="http://schemas.microsoft.com/office/drawing/2014/main" id="{57A715E7-9B00-9D30-E135-49884CBD6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0" y="2354012"/>
            <a:ext cx="5751272" cy="25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ATR Any Point, </a:t>
            </a:r>
            <a:r>
              <a:rPr lang="en-US" dirty="0" err="1"/>
              <a:t>Cmdr</a:t>
            </a:r>
            <a:r>
              <a:rPr lang="en-US" dirty="0"/>
              <a:t> Can Run AI-Gen AAR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All AARs Reviewed and Approved by </a:t>
            </a:r>
            <a:r>
              <a:rPr lang="en-US" dirty="0" err="1"/>
              <a:t>Commabder</a:t>
            </a:r>
            <a:endParaRPr lang="en-US"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AI Generates ARR from Series of Sortie Summaries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AI Generates Mission Score from Sortie Ratings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AAR Approved are Retained in Mission Records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-US" dirty="0"/>
              <a:t>Source Data is Retained in Mission Records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endParaRPr dirty="0"/>
          </a:p>
        </p:txBody>
      </p:sp>
      <p:pic>
        <p:nvPicPr>
          <p:cNvPr id="3" name="Google Shape;343;p11" descr="A computer screen shot of a field&#10;&#10;AI-generated content may be incorrect.">
            <a:extLst>
              <a:ext uri="{FF2B5EF4-FFF2-40B4-BE49-F238E27FC236}">
                <a16:creationId xmlns:a16="http://schemas.microsoft.com/office/drawing/2014/main" id="{2F309A33-2515-BEA3-8507-C453FC4F9A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9161" y="2447971"/>
            <a:ext cx="2722505" cy="196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11979">
              <a:srgbClr val="022C94"/>
            </a:gs>
            <a:gs pos="35040">
              <a:srgbClr val="020B11"/>
            </a:gs>
            <a:gs pos="78000">
              <a:srgbClr val="4A017E"/>
            </a:gs>
            <a:gs pos="99000">
              <a:srgbClr val="A202A1"/>
            </a:gs>
            <a:gs pos="100000">
              <a:srgbClr val="A202A1"/>
            </a:gs>
          </a:gsLst>
          <a:lin ang="7800000" scaled="0"/>
        </a:gra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"/>
          <p:cNvSpPr txBox="1"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56" name="Google Shape;356;p13"/>
          <p:cNvSpPr txBox="1">
            <a:spLocks noGrp="1"/>
          </p:cNvSpPr>
          <p:nvPr>
            <p:ph type="body" idx="1"/>
          </p:nvPr>
        </p:nvSpPr>
        <p:spPr>
          <a:xfrm>
            <a:off x="831850" y="3079119"/>
            <a:ext cx="441325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Kelly Ryan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240-723-0939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kryan@autonmity.com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www.auton</a:t>
            </a:r>
            <a:r>
              <a:rPr lang="en-US"/>
              <a:t>mity.com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Widescreen</PresentationFormat>
  <Paragraphs>261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Custom</vt:lpstr>
      <vt:lpstr>RAPID RESPONSE</vt:lpstr>
      <vt:lpstr>AGENDA</vt:lpstr>
      <vt:lpstr>Introduction</vt:lpstr>
      <vt:lpstr>SALES</vt:lpstr>
      <vt:lpstr>ORGANIZATIONS (Accounts)</vt:lpstr>
      <vt:lpstr>ORGANIZATION (Account Record)</vt:lpstr>
      <vt:lpstr>CONTACTS Record</vt:lpstr>
      <vt:lpstr>CONTACTS Record</vt:lpstr>
      <vt:lpstr>PORTAL</vt:lpstr>
      <vt:lpstr>SERVICE SHOPPING</vt:lpstr>
      <vt:lpstr>New Order = New Mission (Response)</vt:lpstr>
      <vt:lpstr>Sortie Flight Plan</vt:lpstr>
      <vt:lpstr>Multi-Mission Mgt (M2)</vt:lpstr>
      <vt:lpstr>Missions</vt:lpstr>
      <vt:lpstr>Missions AI Feeds</vt:lpstr>
      <vt:lpstr>Missions ( AFTER ACTION)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Dalton Pont</dc:creator>
  <cp:lastModifiedBy>Dalton Pont</cp:lastModifiedBy>
  <cp:revision>1</cp:revision>
  <dcterms:created xsi:type="dcterms:W3CDTF">2025-10-09T17:50:03Z</dcterms:created>
  <dcterms:modified xsi:type="dcterms:W3CDTF">2025-11-10T19:48:56Z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0x0101009693F52BDC173D4FB9EE0EEFDDE45D86</vt:lpwstr>
  </property>
</Properties>
</file>